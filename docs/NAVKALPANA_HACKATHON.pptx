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7" r:id="rId5"/>
    <p:sldId id="293" r:id="rId6"/>
    <p:sldId id="294" r:id="rId7"/>
    <p:sldId id="296" r:id="rId8"/>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8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2/24/2026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192B6-D970-2572-048F-556B2BAC9906}"/>
            </a:ext>
          </a:extLst>
        </p:cNvPr>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994C9A63-45A8-A36E-51AB-F322A9A9E3C1}"/>
              </a:ext>
            </a:extLst>
          </p:cNvPr>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a:extLst>
              <a:ext uri="{FF2B5EF4-FFF2-40B4-BE49-F238E27FC236}">
                <a16:creationId xmlns:a16="http://schemas.microsoft.com/office/drawing/2014/main" id="{9BA7481C-6197-7654-4DB3-73CCE7EF8E09}"/>
              </a:ext>
            </a:extLst>
          </p:cNvPr>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a:extLst>
              <a:ext uri="{FF2B5EF4-FFF2-40B4-BE49-F238E27FC236}">
                <a16:creationId xmlns:a16="http://schemas.microsoft.com/office/drawing/2014/main" id="{5D9A1368-90EF-FC0B-E955-BA528673FD64}"/>
              </a:ext>
            </a:extLst>
          </p:cNvPr>
          <p:cNvSpPr>
            <a:spLocks noGrp="1"/>
          </p:cNvSpPr>
          <p:nvPr>
            <p:ph type="sldNum" sz="quarter" idx="5"/>
          </p:nvPr>
        </p:nvSpPr>
        <p:spPr bwMode="auto">
          <a:noFill/>
          <a:ln>
            <a:miter lim="800000"/>
            <a:headEnd/>
            <a:tailEnd/>
          </a:ln>
        </p:spPr>
        <p:txBody>
          <a:bodyPr/>
          <a:lstStyle/>
          <a:p>
            <a:fld id="{0CA7B74D-3791-4AC6-8451-F10DBCCCDD9A}" type="slidenum">
              <a:rPr lang="en-US"/>
              <a:pPr/>
              <a:t>4</a:t>
            </a:fld>
            <a:endParaRPr lang="en-US"/>
          </a:p>
        </p:txBody>
      </p:sp>
    </p:spTree>
    <p:extLst>
      <p:ext uri="{BB962C8B-B14F-4D97-AF65-F5344CB8AC3E}">
        <p14:creationId xmlns:p14="http://schemas.microsoft.com/office/powerpoint/2010/main" val="21938908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2/24/2026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2/24/2026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2/24/2026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2/24/2026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2/24/2026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2/24/2026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2/24/2026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2/24/2026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2/24/2026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2/24/2026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2/24/2026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2/24/2026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Rakhiraj1686/NavKalpana-RICR-NK-0029.git"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who.int/news-room/fact-sheets/detail/physical-activity" TargetMode="External"/><Relationship Id="rId7" Type="http://schemas.openxmlformats.org/officeDocument/2006/relationships/hyperlink" Target="https://www.mongodb.com/doc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nodejs.org/" TargetMode="External"/><Relationship Id="rId5" Type="http://schemas.openxmlformats.org/officeDocument/2006/relationships/hyperlink" Target="https://react.dev/" TargetMode="External"/><Relationship Id="rId4" Type="http://schemas.openxmlformats.org/officeDocument/2006/relationships/hyperlink" Target="https://www.acsm.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u="sng" dirty="0">
                <a:solidFill>
                  <a:srgbClr val="FF0000"/>
                </a:solidFill>
                <a:latin typeface="Times New Roman" panose="02020603050405020304" pitchFamily="18" charset="0"/>
                <a:cs typeface="Times New Roman" panose="02020603050405020304" pitchFamily="18" charset="0"/>
              </a:rPr>
              <a:t>TITLE PAGE</a:t>
            </a:r>
            <a:endParaRPr lang="en-IN" b="1" u="sng" dirty="0">
              <a:solidFill>
                <a:srgbClr val="FF0000"/>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NAVKALPANA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999700" y="2076450"/>
            <a:ext cx="9314159" cy="3948004"/>
          </a:xfrm>
          <a:prstGeom prst="rect">
            <a:avLst/>
          </a:prstGeom>
          <a:noFill/>
        </p:spPr>
        <p:txBody>
          <a:bodyPr wrap="square" rtlCol="0">
            <a:spAutoFit/>
          </a:bodyPr>
          <a:lstStyle/>
          <a:p>
            <a:endParaRPr lang="en-US" dirty="0"/>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Title- </a:t>
            </a:r>
            <a:r>
              <a:rPr lang="en-US" sz="1600" b="1" u="sng" dirty="0">
                <a:latin typeface="Arial" panose="020B0604020202020204" pitchFamily="34" charset="0"/>
                <a:cs typeface="Arial" panose="020B0604020202020204" pitchFamily="34" charset="0"/>
              </a:rPr>
              <a:t>HealthTech Solution</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Theme-  </a:t>
            </a:r>
            <a:r>
              <a:rPr lang="en-US" b="1" u="sng" dirty="0">
                <a:latin typeface="Arial" panose="020B0604020202020204" pitchFamily="34" charset="0"/>
                <a:cs typeface="Arial" panose="020B0604020202020204" pitchFamily="34" charset="0"/>
              </a:rPr>
              <a:t>Health</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PS Category- </a:t>
            </a:r>
            <a:r>
              <a:rPr lang="en-US" sz="1600" b="1" u="sng" dirty="0">
                <a:latin typeface="Arial" panose="020B0604020202020204" pitchFamily="34" charset="0"/>
                <a:cs typeface="Arial" panose="020B0604020202020204" pitchFamily="34" charset="0"/>
              </a:rPr>
              <a:t>Software</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ID- </a:t>
            </a:r>
            <a:r>
              <a:rPr lang="en-US" sz="1600" b="1" u="sng" dirty="0">
                <a:latin typeface="Arial" panose="020B0604020202020204" pitchFamily="34" charset="0"/>
                <a:cs typeface="Arial" panose="020B0604020202020204" pitchFamily="34" charset="0"/>
              </a:rPr>
              <a:t>RICR-NK-0029</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Name- </a:t>
            </a:r>
            <a:endParaRPr lang="en-IN" sz="2400" b="1"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br>
              <a:rPr lang="en-US" sz="3600" b="1" u="sng" dirty="0">
                <a:latin typeface="Times New Roman" panose="02020603050405020304" pitchFamily="18" charset="0"/>
                <a:ea typeface="ＭＳ Ｐゴシック" pitchFamily="1" charset="-128"/>
                <a:cs typeface="Times New Roman" panose="02020603050405020304" pitchFamily="18" charset="0"/>
              </a:rPr>
            </a:br>
            <a:r>
              <a:rPr lang="en-US" sz="3600" u="sng" dirty="0">
                <a:solidFill>
                  <a:srgbClr val="FF0000"/>
                </a:solidFill>
              </a:rPr>
              <a:t>WORKOUT MANAGEMENT SYSTEM USING MERN STACK</a:t>
            </a:r>
            <a:endParaRPr lang="en-US" sz="3600" b="1" u="sng" dirty="0">
              <a:solidFill>
                <a:srgbClr val="FF0000"/>
              </a:solidFill>
              <a:latin typeface="Times New Roman" panose="02020603050405020304" pitchFamily="18" charset="0"/>
              <a:ea typeface="ＭＳ Ｐゴシック" pitchFamily="1" charset="-128"/>
              <a:cs typeface="Times New Roman" panose="02020603050405020304" pitchFamily="18" charset="0"/>
            </a:endParaRPr>
          </a:p>
        </p:txBody>
      </p:sp>
      <p:sp>
        <p:nvSpPr>
          <p:cNvPr id="15362" name="TextBox 8"/>
          <p:cNvSpPr txBox="1">
            <a:spLocks noChangeArrowheads="1"/>
          </p:cNvSpPr>
          <p:nvPr/>
        </p:nvSpPr>
        <p:spPr bwMode="auto">
          <a:xfrm flipV="1">
            <a:off x="6832877" y="6354762"/>
            <a:ext cx="5469652" cy="126616"/>
          </a:xfrm>
          <a:prstGeom prst="rect">
            <a:avLst/>
          </a:prstGeom>
          <a:noFill/>
          <a:ln w="9525">
            <a:noFill/>
            <a:miter lim="800000"/>
            <a:headEnd/>
            <a:tailEnd/>
          </a:ln>
        </p:spPr>
        <p:txBody>
          <a:bodyPr wrap="square">
            <a:spAutoFit/>
          </a:bodyPr>
          <a:lstStyle/>
          <a:p>
            <a:endParaRPr lang="en-US" sz="2000" u="sng" dirty="0">
              <a:solidFill>
                <a:schemeClr val="tx2"/>
              </a:solidFill>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dirty="0">
                <a:solidFill>
                  <a:schemeClr val="bg1"/>
                </a:solidFill>
              </a:rPr>
              <a:t>@NavkalpanaHackathon</a:t>
            </a:r>
          </a:p>
        </p:txBody>
      </p:sp>
      <p:sp>
        <p:nvSpPr>
          <p:cNvPr id="2" name="Rectangle 1">
            <a:extLst>
              <a:ext uri="{FF2B5EF4-FFF2-40B4-BE49-F238E27FC236}">
                <a16:creationId xmlns:a16="http://schemas.microsoft.com/office/drawing/2014/main" id="{657A352C-5CE3-6B55-50DB-F7E27473E7EE}"/>
              </a:ext>
            </a:extLst>
          </p:cNvPr>
          <p:cNvSpPr>
            <a:spLocks noChangeArrowheads="1"/>
          </p:cNvSpPr>
          <p:nvPr/>
        </p:nvSpPr>
        <p:spPr bwMode="auto">
          <a:xfrm rot="10800000" flipV="1">
            <a:off x="182998" y="1143000"/>
            <a:ext cx="6545062"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 Project Idea – Smart Workout Planner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The idea of this project is to develop a full-stack web application that helps users plan, manage, and track their daily workout routines in a simple and organized way. Many people struggle to maintain consistency in fitness because they do not have a structured workout plan or a centralized platform to track their exercises. This application solves that problem by providing a digital workout planning system.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The Smart Workout Planner allows users to create personalized workout plans, view all scheduled workouts, and manage their fitness activities through an interactive dashboard. The frontend is built using React and Tailwind CSS to provide a modern and responsive user interface, while the backend is developed using Node.js and Express to handle APIs and business logic. MongoDB is used as the database to store user and workout data efficiently.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The system follows a client-server architecture where the frontend communicates with the backend through REST APIs (such as fetching all workouts and adding new workout plans). This ensures scalability, fast performance, and real-time data handling.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Overall, the main goal of this project is to simplify fitness planning, improve user discipline, and demonstrate full-stack development skills using the MERN stack in a real-world application.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263A4AC0-E7A7-7BC3-73A5-B9905FF2F659}"/>
              </a:ext>
            </a:extLst>
          </p:cNvPr>
          <p:cNvSpPr txBox="1"/>
          <p:nvPr/>
        </p:nvSpPr>
        <p:spPr>
          <a:xfrm>
            <a:off x="6728060" y="1150536"/>
            <a:ext cx="5128995" cy="4308872"/>
          </a:xfrm>
          <a:prstGeom prst="rect">
            <a:avLst/>
          </a:prstGeom>
          <a:noFill/>
        </p:spPr>
        <p:txBody>
          <a:bodyPr wrap="square" rtlCol="0">
            <a:spAutoFit/>
          </a:bodyPr>
          <a:lstStyle/>
          <a:p>
            <a:r>
              <a:rPr lang="en-US" sz="1600" b="1" dirty="0"/>
              <a:t>🛠️ Proposed Solution – Smart Workout Planner</a:t>
            </a:r>
          </a:p>
          <a:p>
            <a:r>
              <a:rPr lang="en-US" sz="1200" dirty="0"/>
              <a:t>The proposed solution is a full-stack web application that provides a structured and user-friendly platform for planning and managing workout routines. The system allows users to create, view, and organize their workout plans in one centralized dashboard, making fitness tracking more efficient and consistent.</a:t>
            </a:r>
          </a:p>
          <a:p>
            <a:r>
              <a:rPr lang="en-US" sz="1200" dirty="0"/>
              <a:t>The application is designed using a modern MERN-based architecture where the frontend (React with Tailwind CSS) provides an interactive and responsive interface, and the backend (Node.js and Express) handles API requests and business logic. MongoDB is used to store workout data such as workout title, duration, and calories, ensuring fast and scalable data management.</a:t>
            </a:r>
          </a:p>
          <a:p>
            <a:r>
              <a:rPr lang="en-US" sz="1200" dirty="0"/>
              <a:t>Users can add new workout plans, fetch all workouts through REST APIs (e.g., /</a:t>
            </a:r>
            <a:r>
              <a:rPr lang="en-US" sz="1200" dirty="0" err="1"/>
              <a:t>api</a:t>
            </a:r>
            <a:r>
              <a:rPr lang="en-US" sz="1200" dirty="0"/>
              <a:t>/workout/all), and manage their fitness schedule digitally instead of relying on manual tracking. Axios is used for seamless communication between the frontend and backend, enabling real-time data updates on the dashboard.</a:t>
            </a:r>
          </a:p>
          <a:p>
            <a:r>
              <a:rPr lang="en-US" sz="1200" dirty="0"/>
              <a:t>Additionally, the system includes proper routing, authentication-ready structure, and a modular backend design, making it scalable for future enhancements like progress tracking, analytics, and AI-based workout recommendations.</a:t>
            </a:r>
          </a:p>
          <a:p>
            <a:r>
              <a:rPr lang="en-US" sz="1200" dirty="0"/>
              <a:t>This solution not only improves workout organization and user productivity but also demonstrates practical implementation of full-stack development, REST API integration, and database management in a real-world fitness application.</a:t>
            </a:r>
          </a:p>
          <a:p>
            <a:endParaRPr lang="en-IN" dirty="0"/>
          </a:p>
        </p:txBody>
      </p:sp>
      <p:sp>
        <p:nvSpPr>
          <p:cNvPr id="4" name="TextBox 3">
            <a:extLst>
              <a:ext uri="{FF2B5EF4-FFF2-40B4-BE49-F238E27FC236}">
                <a16:creationId xmlns:a16="http://schemas.microsoft.com/office/drawing/2014/main" id="{572401EF-2B3E-B623-6910-2F65D9B18C50}"/>
              </a:ext>
            </a:extLst>
          </p:cNvPr>
          <p:cNvSpPr txBox="1"/>
          <p:nvPr/>
        </p:nvSpPr>
        <p:spPr>
          <a:xfrm>
            <a:off x="6728060" y="5210126"/>
            <a:ext cx="1946367" cy="369332"/>
          </a:xfrm>
          <a:prstGeom prst="rect">
            <a:avLst/>
          </a:prstGeom>
          <a:noFill/>
        </p:spPr>
        <p:txBody>
          <a:bodyPr wrap="none" rtlCol="0">
            <a:spAutoFit/>
          </a:bodyPr>
          <a:lstStyle/>
          <a:p>
            <a:r>
              <a:rPr lang="en-US" b="1" dirty="0"/>
              <a:t>Git-Hub Link</a:t>
            </a:r>
            <a:r>
              <a:rPr lang="en-US" dirty="0"/>
              <a:t>:- </a:t>
            </a:r>
            <a:r>
              <a:rPr lang="en-US" b="1" dirty="0">
                <a:hlinkClick r:id="rId3"/>
              </a:rPr>
              <a:t>Link</a:t>
            </a:r>
            <a:endParaRPr lang="en-IN" b="1" dirty="0"/>
          </a:p>
        </p:txBody>
      </p:sp>
      <p:sp>
        <p:nvSpPr>
          <p:cNvPr id="5" name="TextBox 4">
            <a:extLst>
              <a:ext uri="{FF2B5EF4-FFF2-40B4-BE49-F238E27FC236}">
                <a16:creationId xmlns:a16="http://schemas.microsoft.com/office/drawing/2014/main" id="{EADD992C-2F22-C949-4514-50354B7E5366}"/>
              </a:ext>
            </a:extLst>
          </p:cNvPr>
          <p:cNvSpPr txBox="1"/>
          <p:nvPr/>
        </p:nvSpPr>
        <p:spPr>
          <a:xfrm>
            <a:off x="182998" y="4228488"/>
            <a:ext cx="5564019" cy="2492990"/>
          </a:xfrm>
          <a:prstGeom prst="rect">
            <a:avLst/>
          </a:prstGeom>
          <a:noFill/>
        </p:spPr>
        <p:txBody>
          <a:bodyPr wrap="square" rtlCol="0">
            <a:spAutoFit/>
          </a:bodyPr>
          <a:lstStyle/>
          <a:p>
            <a:r>
              <a:rPr lang="en-IN" sz="1600" b="1" dirty="0"/>
              <a:t>⭐ Uniqueness of Smart Workout Planner</a:t>
            </a:r>
          </a:p>
          <a:p>
            <a:r>
              <a:rPr lang="en-IN" sz="1200" dirty="0"/>
              <a:t>• Full-Stack MERN Architecture (React, Node.js, Express, MongoDB)</a:t>
            </a:r>
            <a:br>
              <a:rPr lang="en-IN" sz="1200" dirty="0"/>
            </a:br>
            <a:r>
              <a:rPr lang="en-IN" sz="1200" dirty="0"/>
              <a:t>• Real-time API Integration using Axios</a:t>
            </a:r>
            <a:br>
              <a:rPr lang="en-IN" sz="1200" dirty="0"/>
            </a:br>
            <a:r>
              <a:rPr lang="en-IN" sz="1200" dirty="0"/>
              <a:t>• Clean and Responsive UI with Tailwind CSS</a:t>
            </a:r>
            <a:br>
              <a:rPr lang="en-IN" sz="1200" dirty="0"/>
            </a:br>
            <a:r>
              <a:rPr lang="en-IN" sz="1200" dirty="0"/>
              <a:t>• Structured Workout Management System (Create, View, Manage)</a:t>
            </a:r>
            <a:br>
              <a:rPr lang="en-IN" sz="1200" dirty="0"/>
            </a:br>
            <a:r>
              <a:rPr lang="en-IN" sz="1200" dirty="0"/>
              <a:t>• Modular Backend Design (Models, Routes, Controllers)</a:t>
            </a:r>
            <a:br>
              <a:rPr lang="en-IN" sz="1200" dirty="0"/>
            </a:br>
            <a:r>
              <a:rPr lang="en-IN" sz="1200" dirty="0"/>
              <a:t>• Scalable Database Structure using MongoDB</a:t>
            </a:r>
            <a:br>
              <a:rPr lang="en-IN" sz="1200" dirty="0"/>
            </a:br>
            <a:r>
              <a:rPr lang="en-IN" sz="1200" dirty="0"/>
              <a:t>• REST API-based Client-Server Communication</a:t>
            </a:r>
            <a:br>
              <a:rPr lang="en-IN" sz="1200" dirty="0"/>
            </a:br>
            <a:r>
              <a:rPr lang="en-IN" sz="1200" dirty="0"/>
              <a:t>• Easy to Upgrade with Future Enhancements (AI Suggestions, Analytics)</a:t>
            </a:r>
            <a:br>
              <a:rPr lang="en-IN" sz="1200" dirty="0"/>
            </a:br>
            <a:r>
              <a:rPr lang="en-IN" sz="1200" dirty="0"/>
              <a:t>• User-Friendly Dashboard for Better Experience</a:t>
            </a:r>
            <a:br>
              <a:rPr lang="en-IN" sz="1200" dirty="0"/>
            </a:br>
            <a:r>
              <a:rPr lang="en-IN" sz="1200" dirty="0"/>
              <a:t>• Practical Real-World Fitness Problem Solution</a:t>
            </a:r>
          </a:p>
          <a:p>
            <a:endParaRPr lang="en-IN" dirty="0"/>
          </a:p>
        </p:txBody>
      </p:sp>
      <p:sp>
        <p:nvSpPr>
          <p:cNvPr id="10" name="TextBox 9">
            <a:extLst>
              <a:ext uri="{FF2B5EF4-FFF2-40B4-BE49-F238E27FC236}">
                <a16:creationId xmlns:a16="http://schemas.microsoft.com/office/drawing/2014/main" id="{BA953FDC-9611-BDA8-3404-564A22D77407}"/>
              </a:ext>
            </a:extLst>
          </p:cNvPr>
          <p:cNvSpPr txBox="1"/>
          <p:nvPr/>
        </p:nvSpPr>
        <p:spPr>
          <a:xfrm>
            <a:off x="5069999" y="5516475"/>
            <a:ext cx="7208855" cy="923330"/>
          </a:xfrm>
          <a:prstGeom prst="rect">
            <a:avLst/>
          </a:prstGeom>
          <a:noFill/>
        </p:spPr>
        <p:txBody>
          <a:bodyPr wrap="square" rtlCol="0">
            <a:spAutoFit/>
          </a:bodyPr>
          <a:lstStyle/>
          <a:p>
            <a:r>
              <a:rPr lang="en-US" b="1" dirty="0"/>
              <a:t>Project </a:t>
            </a:r>
            <a:r>
              <a:rPr lang="en-US" b="1" dirty="0" err="1"/>
              <a:t>WorkFlow</a:t>
            </a:r>
            <a:r>
              <a:rPr lang="en-US" b="1" dirty="0"/>
              <a:t> </a:t>
            </a:r>
            <a:r>
              <a:rPr lang="en-US" dirty="0"/>
              <a:t>:- </a:t>
            </a:r>
            <a:r>
              <a:rPr lang="en-IN" dirty="0"/>
              <a:t>User → Frontend (React) → Axios API Call → Express Server → MongoDB → Response to UI</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u="sng" dirty="0">
                <a:solidFill>
                  <a:srgbClr val="FF0000"/>
                </a:solidFill>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492875"/>
            <a:ext cx="3204000" cy="365125"/>
          </a:xfrm>
        </p:spPr>
        <p:txBody>
          <a:bodyPr/>
          <a:lstStyle/>
          <a:p>
            <a:pPr>
              <a:defRPr/>
            </a:pPr>
            <a:r>
              <a:rPr lang="en-US" dirty="0">
                <a:solidFill>
                  <a:schemeClr val="bg1"/>
                </a:solidFill>
              </a:rPr>
              <a:t>@NavkalpanaHackathon</a:t>
            </a:r>
          </a:p>
          <a:p>
            <a:pPr>
              <a:defRPr/>
            </a:pPr>
            <a:endParaRPr lang="en-US" dirty="0">
              <a:solidFill>
                <a:schemeClr val="bg1"/>
              </a:solidFill>
            </a:endParaRPr>
          </a:p>
        </p:txBody>
      </p:sp>
      <p:pic>
        <p:nvPicPr>
          <p:cNvPr id="3" name="Picture 2">
            <a:extLst>
              <a:ext uri="{FF2B5EF4-FFF2-40B4-BE49-F238E27FC236}">
                <a16:creationId xmlns:a16="http://schemas.microsoft.com/office/drawing/2014/main" id="{9CCC0AE1-D177-C368-D229-FF9B3F186FA8}"/>
              </a:ext>
            </a:extLst>
          </p:cNvPr>
          <p:cNvPicPr>
            <a:picLocks noChangeAspect="1"/>
          </p:cNvPicPr>
          <p:nvPr/>
        </p:nvPicPr>
        <p:blipFill>
          <a:blip r:embed="rId3"/>
          <a:stretch>
            <a:fillRect/>
          </a:stretch>
        </p:blipFill>
        <p:spPr>
          <a:xfrm>
            <a:off x="315633" y="820233"/>
            <a:ext cx="4907526" cy="3055985"/>
          </a:xfrm>
          <a:prstGeom prst="rect">
            <a:avLst/>
          </a:prstGeom>
        </p:spPr>
      </p:pic>
      <p:sp>
        <p:nvSpPr>
          <p:cNvPr id="4" name="TextBox 3">
            <a:extLst>
              <a:ext uri="{FF2B5EF4-FFF2-40B4-BE49-F238E27FC236}">
                <a16:creationId xmlns:a16="http://schemas.microsoft.com/office/drawing/2014/main" id="{7FB50A80-785B-C67A-8CF7-E731AED74973}"/>
              </a:ext>
            </a:extLst>
          </p:cNvPr>
          <p:cNvSpPr txBox="1"/>
          <p:nvPr/>
        </p:nvSpPr>
        <p:spPr>
          <a:xfrm>
            <a:off x="1651819" y="820233"/>
            <a:ext cx="2066976" cy="369332"/>
          </a:xfrm>
          <a:prstGeom prst="rect">
            <a:avLst/>
          </a:prstGeom>
          <a:noFill/>
        </p:spPr>
        <p:txBody>
          <a:bodyPr wrap="none" rtlCol="0">
            <a:spAutoFit/>
          </a:bodyPr>
          <a:lstStyle/>
          <a:p>
            <a:r>
              <a:rPr lang="en-US" b="1" dirty="0"/>
              <a:t>TECHNOLOGY USED</a:t>
            </a:r>
            <a:endParaRPr lang="en-IN" b="1" dirty="0"/>
          </a:p>
        </p:txBody>
      </p:sp>
      <p:pic>
        <p:nvPicPr>
          <p:cNvPr id="5" name="Picture 4">
            <a:extLst>
              <a:ext uri="{FF2B5EF4-FFF2-40B4-BE49-F238E27FC236}">
                <a16:creationId xmlns:a16="http://schemas.microsoft.com/office/drawing/2014/main" id="{4EADD08C-8068-9F6A-E7CB-E0A54DE329C9}"/>
              </a:ext>
            </a:extLst>
          </p:cNvPr>
          <p:cNvPicPr>
            <a:picLocks noChangeAspect="1"/>
          </p:cNvPicPr>
          <p:nvPr/>
        </p:nvPicPr>
        <p:blipFill>
          <a:blip r:embed="rId4"/>
          <a:stretch>
            <a:fillRect/>
          </a:stretch>
        </p:blipFill>
        <p:spPr>
          <a:xfrm>
            <a:off x="5428379" y="1269869"/>
            <a:ext cx="6447988" cy="4680155"/>
          </a:xfrm>
          <a:prstGeom prst="rect">
            <a:avLst/>
          </a:prstGeom>
        </p:spPr>
      </p:pic>
      <p:pic>
        <p:nvPicPr>
          <p:cNvPr id="9" name="Picture 8">
            <a:extLst>
              <a:ext uri="{FF2B5EF4-FFF2-40B4-BE49-F238E27FC236}">
                <a16:creationId xmlns:a16="http://schemas.microsoft.com/office/drawing/2014/main" id="{2F0AC3F7-F16F-65DD-0D34-261A86639936}"/>
              </a:ext>
            </a:extLst>
          </p:cNvPr>
          <p:cNvPicPr>
            <a:picLocks noChangeAspect="1"/>
          </p:cNvPicPr>
          <p:nvPr/>
        </p:nvPicPr>
        <p:blipFill>
          <a:blip r:embed="rId5"/>
          <a:stretch>
            <a:fillRect/>
          </a:stretch>
        </p:blipFill>
        <p:spPr>
          <a:xfrm>
            <a:off x="0" y="3255712"/>
            <a:ext cx="5540964" cy="296252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14A34-BAAF-3566-6320-AB6AC8A7876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9BBBD7D-C1CA-DA36-2289-5AFB2BD20A9B}"/>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a:extLst>
              <a:ext uri="{FF2B5EF4-FFF2-40B4-BE49-F238E27FC236}">
                <a16:creationId xmlns:a16="http://schemas.microsoft.com/office/drawing/2014/main" id="{423934B7-A121-9D76-17BF-68C139D319F6}"/>
              </a:ext>
            </a:extLst>
          </p:cNvPr>
          <p:cNvSpPr>
            <a:spLocks noGrp="1"/>
          </p:cNvSpPr>
          <p:nvPr>
            <p:ph type="title"/>
          </p:nvPr>
        </p:nvSpPr>
        <p:spPr/>
        <p:txBody>
          <a:bodyPr/>
          <a:lstStyle/>
          <a:p>
            <a:pPr eaLnBrk="1" hangingPunct="1"/>
            <a:r>
              <a:rPr lang="en-US" sz="3600" b="1" u="sng" dirty="0">
                <a:solidFill>
                  <a:srgbClr val="FF0000"/>
                </a:solidFill>
                <a:latin typeface="Times New Roman" panose="02020603050405020304" pitchFamily="18" charset="0"/>
                <a:ea typeface="ＭＳ Ｐゴシック" pitchFamily="1" charset="-128"/>
                <a:cs typeface="Times New Roman" panose="02020603050405020304" pitchFamily="18" charset="0"/>
              </a:rPr>
              <a:t>PROTOTYPE INTERNAL PIC</a:t>
            </a:r>
          </a:p>
        </p:txBody>
      </p:sp>
      <p:sp>
        <p:nvSpPr>
          <p:cNvPr id="6" name="Slide Number Placeholder 5">
            <a:extLst>
              <a:ext uri="{FF2B5EF4-FFF2-40B4-BE49-F238E27FC236}">
                <a16:creationId xmlns:a16="http://schemas.microsoft.com/office/drawing/2014/main" id="{228EB146-F97F-E2D6-8698-09F0952122C4}"/>
              </a:ext>
            </a:extLst>
          </p:cNvPr>
          <p:cNvSpPr>
            <a:spLocks noGrp="1"/>
          </p:cNvSpPr>
          <p:nvPr>
            <p:ph type="sldNum" sz="quarter" idx="12"/>
          </p:nvPr>
        </p:nvSpPr>
        <p:spPr/>
        <p:txBody>
          <a:bodyPr/>
          <a:lstStyle/>
          <a:p>
            <a:fld id="{677C3CE7-23F7-4828-823C-E0205DF2CF97}" type="slidenum">
              <a:rPr lang="en-US" b="1">
                <a:solidFill>
                  <a:schemeClr val="bg1"/>
                </a:solidFill>
              </a:rPr>
              <a:pPr/>
              <a:t>4</a:t>
            </a:fld>
            <a:endParaRPr lang="en-US" b="1" dirty="0">
              <a:solidFill>
                <a:schemeClr val="bg1"/>
              </a:solidFill>
            </a:endParaRPr>
          </a:p>
        </p:txBody>
      </p:sp>
      <p:sp>
        <p:nvSpPr>
          <p:cNvPr id="7" name="Footer Placeholder 6">
            <a:extLst>
              <a:ext uri="{FF2B5EF4-FFF2-40B4-BE49-F238E27FC236}">
                <a16:creationId xmlns:a16="http://schemas.microsoft.com/office/drawing/2014/main" id="{9BB03FAA-3BE5-3918-DBD1-57E912E7DB93}"/>
              </a:ext>
            </a:extLst>
          </p:cNvPr>
          <p:cNvSpPr>
            <a:spLocks noGrp="1"/>
          </p:cNvSpPr>
          <p:nvPr>
            <p:ph type="ftr" sz="quarter" idx="11"/>
          </p:nvPr>
        </p:nvSpPr>
        <p:spPr>
          <a:xfrm>
            <a:off x="4648200" y="6492875"/>
            <a:ext cx="3204000" cy="365125"/>
          </a:xfrm>
        </p:spPr>
        <p:txBody>
          <a:bodyPr/>
          <a:lstStyle/>
          <a:p>
            <a:pPr>
              <a:defRPr/>
            </a:pPr>
            <a:r>
              <a:rPr lang="en-US" dirty="0">
                <a:solidFill>
                  <a:schemeClr val="bg1"/>
                </a:solidFill>
              </a:rPr>
              <a:t>@NavkalpanaHackathon</a:t>
            </a:r>
          </a:p>
          <a:p>
            <a:pPr>
              <a:defRPr/>
            </a:pPr>
            <a:endParaRPr lang="en-US" dirty="0">
              <a:solidFill>
                <a:schemeClr val="bg1"/>
              </a:solidFill>
            </a:endParaRPr>
          </a:p>
        </p:txBody>
      </p:sp>
      <p:pic>
        <p:nvPicPr>
          <p:cNvPr id="8" name="Picture 7">
            <a:extLst>
              <a:ext uri="{FF2B5EF4-FFF2-40B4-BE49-F238E27FC236}">
                <a16:creationId xmlns:a16="http://schemas.microsoft.com/office/drawing/2014/main" id="{02565997-D823-C650-3871-D9F68AD242D7}"/>
              </a:ext>
            </a:extLst>
          </p:cNvPr>
          <p:cNvPicPr>
            <a:picLocks noChangeAspect="1"/>
          </p:cNvPicPr>
          <p:nvPr/>
        </p:nvPicPr>
        <p:blipFill>
          <a:blip r:embed="rId3"/>
          <a:stretch>
            <a:fillRect/>
          </a:stretch>
        </p:blipFill>
        <p:spPr>
          <a:xfrm>
            <a:off x="213851" y="802497"/>
            <a:ext cx="5850193" cy="3228730"/>
          </a:xfrm>
          <a:prstGeom prst="rect">
            <a:avLst/>
          </a:prstGeom>
        </p:spPr>
      </p:pic>
      <p:sp>
        <p:nvSpPr>
          <p:cNvPr id="11" name="Arrow: Right 10">
            <a:extLst>
              <a:ext uri="{FF2B5EF4-FFF2-40B4-BE49-F238E27FC236}">
                <a16:creationId xmlns:a16="http://schemas.microsoft.com/office/drawing/2014/main" id="{C9A883DF-C02A-CE8D-16DA-D1BF32DF4C9B}"/>
              </a:ext>
            </a:extLst>
          </p:cNvPr>
          <p:cNvSpPr/>
          <p:nvPr/>
        </p:nvSpPr>
        <p:spPr>
          <a:xfrm>
            <a:off x="6091982" y="2536723"/>
            <a:ext cx="652045" cy="12781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569CFEC7-F2EA-2E6A-ED51-3C8366FC1A06}"/>
              </a:ext>
            </a:extLst>
          </p:cNvPr>
          <p:cNvPicPr>
            <a:picLocks noChangeAspect="1"/>
          </p:cNvPicPr>
          <p:nvPr/>
        </p:nvPicPr>
        <p:blipFill>
          <a:blip r:embed="rId4"/>
          <a:stretch>
            <a:fillRect/>
          </a:stretch>
        </p:blipFill>
        <p:spPr>
          <a:xfrm>
            <a:off x="6744027" y="802497"/>
            <a:ext cx="5378245" cy="3228730"/>
          </a:xfrm>
          <a:prstGeom prst="rect">
            <a:avLst/>
          </a:prstGeom>
        </p:spPr>
      </p:pic>
      <p:pic>
        <p:nvPicPr>
          <p:cNvPr id="15" name="Picture 14">
            <a:extLst>
              <a:ext uri="{FF2B5EF4-FFF2-40B4-BE49-F238E27FC236}">
                <a16:creationId xmlns:a16="http://schemas.microsoft.com/office/drawing/2014/main" id="{A7CE8612-1533-17F1-B8DA-A7861ADFE0FD}"/>
              </a:ext>
            </a:extLst>
          </p:cNvPr>
          <p:cNvPicPr>
            <a:picLocks noChangeAspect="1"/>
          </p:cNvPicPr>
          <p:nvPr/>
        </p:nvPicPr>
        <p:blipFill>
          <a:blip r:embed="rId5"/>
          <a:stretch>
            <a:fillRect/>
          </a:stretch>
        </p:blipFill>
        <p:spPr>
          <a:xfrm>
            <a:off x="2805222" y="4193459"/>
            <a:ext cx="5512868" cy="2049104"/>
          </a:xfrm>
          <a:prstGeom prst="rect">
            <a:avLst/>
          </a:prstGeom>
        </p:spPr>
      </p:pic>
      <p:cxnSp>
        <p:nvCxnSpPr>
          <p:cNvPr id="17" name="Connector: Elbow 16">
            <a:extLst>
              <a:ext uri="{FF2B5EF4-FFF2-40B4-BE49-F238E27FC236}">
                <a16:creationId xmlns:a16="http://schemas.microsoft.com/office/drawing/2014/main" id="{8EE86ED1-1DE0-6094-2060-6E750232A30B}"/>
              </a:ext>
            </a:extLst>
          </p:cNvPr>
          <p:cNvCxnSpPr/>
          <p:nvPr/>
        </p:nvCxnSpPr>
        <p:spPr>
          <a:xfrm rot="10800000" flipV="1">
            <a:off x="8524569" y="4109883"/>
            <a:ext cx="1818967" cy="134701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A9025D39-26BC-3972-7A6B-0461C0B35671}"/>
              </a:ext>
            </a:extLst>
          </p:cNvPr>
          <p:cNvCxnSpPr/>
          <p:nvPr/>
        </p:nvCxnSpPr>
        <p:spPr>
          <a:xfrm flipV="1">
            <a:off x="10343536" y="4031227"/>
            <a:ext cx="0" cy="78656"/>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9701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u="sng" dirty="0">
                <a:solidFill>
                  <a:srgbClr val="FF0000"/>
                </a:solidFill>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551871"/>
            <a:ext cx="3204000" cy="365125"/>
          </a:xfrm>
        </p:spPr>
        <p:txBody>
          <a:bodyPr/>
          <a:lstStyle/>
          <a:p>
            <a:pPr>
              <a:defRPr/>
            </a:pPr>
            <a:r>
              <a:rPr lang="en-US" dirty="0">
                <a:solidFill>
                  <a:schemeClr val="bg1"/>
                </a:solidFill>
              </a:rPr>
              <a:t>@NavkalpanaHackathon</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2" name="TextBox 1">
            <a:extLst>
              <a:ext uri="{FF2B5EF4-FFF2-40B4-BE49-F238E27FC236}">
                <a16:creationId xmlns:a16="http://schemas.microsoft.com/office/drawing/2014/main" id="{E89CEDE2-D0B9-53F7-721C-E02EF9472094}"/>
              </a:ext>
            </a:extLst>
          </p:cNvPr>
          <p:cNvSpPr txBox="1"/>
          <p:nvPr/>
        </p:nvSpPr>
        <p:spPr>
          <a:xfrm>
            <a:off x="225461" y="678081"/>
            <a:ext cx="10972800" cy="6093976"/>
          </a:xfrm>
          <a:prstGeom prst="rect">
            <a:avLst/>
          </a:prstGeom>
          <a:noFill/>
        </p:spPr>
        <p:txBody>
          <a:bodyPr wrap="square" rtlCol="0">
            <a:spAutoFit/>
          </a:bodyPr>
          <a:lstStyle/>
          <a:p>
            <a:r>
              <a:rPr lang="en-US" sz="1600" b="1" dirty="0"/>
              <a:t>✅ Feasibility Analysis – Smart Workout Planner</a:t>
            </a:r>
          </a:p>
          <a:p>
            <a:r>
              <a:rPr lang="en-US" sz="1600" b="1" dirty="0"/>
              <a:t>🔹 1. Technical Feasibility</a:t>
            </a:r>
          </a:p>
          <a:p>
            <a:r>
              <a:rPr lang="en-US" sz="1400" dirty="0"/>
              <a:t>• Built using widely used technologies (React, Node.js, Express, MongoDB)</a:t>
            </a:r>
            <a:br>
              <a:rPr lang="en-US" sz="1400" dirty="0"/>
            </a:br>
            <a:r>
              <a:rPr lang="en-US" sz="1400" dirty="0"/>
              <a:t>• Easy integration using REST APIs</a:t>
            </a:r>
            <a:br>
              <a:rPr lang="en-US" sz="1400" dirty="0"/>
            </a:br>
            <a:r>
              <a:rPr lang="en-US" sz="1400" dirty="0"/>
              <a:t>• Runs on standard systems (no special hardware required)</a:t>
            </a:r>
            <a:br>
              <a:rPr lang="en-US" sz="1400" dirty="0"/>
            </a:br>
            <a:r>
              <a:rPr lang="en-US" sz="1400" dirty="0"/>
              <a:t>• Open-source tools and libraries used</a:t>
            </a:r>
            <a:br>
              <a:rPr lang="en-US" sz="1400" dirty="0"/>
            </a:br>
            <a:r>
              <a:rPr lang="en-US" sz="1400" dirty="0"/>
              <a:t>• Scalable architecture for future upgrades</a:t>
            </a:r>
          </a:p>
          <a:p>
            <a:endParaRPr lang="en-US" dirty="0"/>
          </a:p>
          <a:p>
            <a:r>
              <a:rPr lang="en-US" sz="1600" b="1" dirty="0"/>
              <a:t>🔹 2. Economic Feasibility</a:t>
            </a:r>
          </a:p>
          <a:p>
            <a:r>
              <a:rPr lang="en-US" sz="1400" dirty="0"/>
              <a:t>• Low development cost (uses free and open-source technologies)</a:t>
            </a:r>
            <a:br>
              <a:rPr lang="en-US" sz="1400" dirty="0"/>
            </a:br>
            <a:r>
              <a:rPr lang="en-US" sz="1400" dirty="0"/>
              <a:t>• No expensive licenses required</a:t>
            </a:r>
            <a:br>
              <a:rPr lang="en-US" sz="1400" dirty="0"/>
            </a:br>
            <a:r>
              <a:rPr lang="en-US" sz="1400" dirty="0"/>
              <a:t>• Can be deployed on free hosting platforms</a:t>
            </a:r>
            <a:br>
              <a:rPr lang="en-US" sz="1400" dirty="0"/>
            </a:br>
            <a:r>
              <a:rPr lang="en-US" sz="1400" dirty="0"/>
              <a:t>• Minimal maintenance cost</a:t>
            </a:r>
          </a:p>
          <a:p>
            <a:endParaRPr lang="en-US" dirty="0"/>
          </a:p>
          <a:p>
            <a:r>
              <a:rPr lang="en-US" sz="1600" b="1" dirty="0"/>
              <a:t>🔹 3. Operational Feasibility</a:t>
            </a:r>
          </a:p>
          <a:p>
            <a:r>
              <a:rPr lang="en-US" sz="1400" dirty="0"/>
              <a:t>• Simple and user-friendly interface</a:t>
            </a:r>
            <a:br>
              <a:rPr lang="en-US" sz="1400" dirty="0"/>
            </a:br>
            <a:r>
              <a:rPr lang="en-US" sz="1400" dirty="0"/>
              <a:t>• Easy to learn and use</a:t>
            </a:r>
            <a:br>
              <a:rPr lang="en-US" sz="1400" dirty="0"/>
            </a:br>
            <a:r>
              <a:rPr lang="en-US" sz="1400" dirty="0"/>
              <a:t>• Requires minimal technical knowledge for users</a:t>
            </a:r>
            <a:br>
              <a:rPr lang="en-US" sz="1400" dirty="0"/>
            </a:br>
            <a:r>
              <a:rPr lang="en-US" sz="1400" dirty="0"/>
              <a:t>• Supports smooth daily workout management</a:t>
            </a:r>
          </a:p>
          <a:p>
            <a:endParaRPr lang="en-US" dirty="0"/>
          </a:p>
          <a:p>
            <a:r>
              <a:rPr lang="en-US" sz="1600" b="1" dirty="0"/>
              <a:t>🔹 4. Schedule Feasibility</a:t>
            </a:r>
          </a:p>
          <a:p>
            <a:r>
              <a:rPr lang="en-US" sz="1400" dirty="0"/>
              <a:t>• Can be developed within a short academic project timeline</a:t>
            </a:r>
            <a:br>
              <a:rPr lang="en-US" sz="1400" dirty="0"/>
            </a:br>
            <a:r>
              <a:rPr lang="en-US" sz="1400" dirty="0"/>
              <a:t>• Modular structure allows parallel frontend and backend development</a:t>
            </a:r>
            <a:br>
              <a:rPr lang="en-US" sz="1400" dirty="0"/>
            </a:br>
            <a:r>
              <a:rPr lang="en-US" sz="1400" dirty="0"/>
              <a:t>• Easy testing and debugging process</a:t>
            </a:r>
          </a:p>
          <a:p>
            <a:endParaRPr lang="en-IN" dirty="0"/>
          </a:p>
        </p:txBody>
      </p:sp>
      <p:sp>
        <p:nvSpPr>
          <p:cNvPr id="4" name="TextBox 3">
            <a:extLst>
              <a:ext uri="{FF2B5EF4-FFF2-40B4-BE49-F238E27FC236}">
                <a16:creationId xmlns:a16="http://schemas.microsoft.com/office/drawing/2014/main" id="{345CB863-F7CE-371B-DB44-F68F84AFEABA}"/>
              </a:ext>
            </a:extLst>
          </p:cNvPr>
          <p:cNvSpPr txBox="1"/>
          <p:nvPr/>
        </p:nvSpPr>
        <p:spPr>
          <a:xfrm>
            <a:off x="6095999" y="772150"/>
            <a:ext cx="6612148" cy="5416868"/>
          </a:xfrm>
          <a:prstGeom prst="rect">
            <a:avLst/>
          </a:prstGeom>
          <a:noFill/>
        </p:spPr>
        <p:txBody>
          <a:bodyPr wrap="square" rtlCol="0">
            <a:spAutoFit/>
          </a:bodyPr>
          <a:lstStyle/>
          <a:p>
            <a:r>
              <a:rPr lang="en-US" sz="1600" b="1" dirty="0"/>
              <a:t>✅ Viability Analysis – Smart Workout Planner</a:t>
            </a:r>
          </a:p>
          <a:p>
            <a:r>
              <a:rPr lang="en-US" sz="1600" b="1" dirty="0"/>
              <a:t>🔹 1. Market Viability</a:t>
            </a:r>
          </a:p>
          <a:p>
            <a:r>
              <a:rPr lang="en-US" sz="1400" dirty="0"/>
              <a:t>• Increasing awareness about fitness and healthy lifestyle</a:t>
            </a:r>
            <a:br>
              <a:rPr lang="en-US" sz="1400" dirty="0"/>
            </a:br>
            <a:r>
              <a:rPr lang="en-US" sz="1400" dirty="0"/>
              <a:t>• Growing demand for personalized workout planning</a:t>
            </a:r>
            <a:br>
              <a:rPr lang="en-US" sz="1400" dirty="0"/>
            </a:br>
            <a:r>
              <a:rPr lang="en-US" sz="1400" dirty="0"/>
              <a:t>• Suitable for students, working professionals, and gym users</a:t>
            </a:r>
            <a:br>
              <a:rPr lang="en-US" sz="1400" dirty="0"/>
            </a:br>
            <a:r>
              <a:rPr lang="en-US" sz="1400" dirty="0"/>
              <a:t>• Can target local gyms and fitness trainers</a:t>
            </a:r>
            <a:endParaRPr lang="en-US" sz="1600" dirty="0"/>
          </a:p>
          <a:p>
            <a:r>
              <a:rPr lang="en-US" sz="1600" b="1" dirty="0"/>
              <a:t>🔹 2. User Viability</a:t>
            </a:r>
          </a:p>
          <a:p>
            <a:r>
              <a:rPr lang="en-US" sz="1400" dirty="0"/>
              <a:t>• Solves real problems like inconsistent workout tracking</a:t>
            </a:r>
            <a:br>
              <a:rPr lang="en-US" sz="1400" dirty="0"/>
            </a:br>
            <a:r>
              <a:rPr lang="en-US" sz="1400" dirty="0"/>
              <a:t>• Personalized workout suggestions improve engagement</a:t>
            </a:r>
            <a:br>
              <a:rPr lang="en-US" sz="1400" dirty="0"/>
            </a:br>
            <a:r>
              <a:rPr lang="en-US" sz="1400" dirty="0"/>
              <a:t>• Easy-to-use interface increases adoption</a:t>
            </a:r>
            <a:br>
              <a:rPr lang="en-US" sz="1400" dirty="0"/>
            </a:br>
            <a:r>
              <a:rPr lang="en-US" sz="1400" dirty="0"/>
              <a:t>• Saves time compared to manual planning</a:t>
            </a:r>
            <a:endParaRPr lang="en-US" dirty="0"/>
          </a:p>
          <a:p>
            <a:r>
              <a:rPr lang="en-US" sz="1600" b="1" dirty="0"/>
              <a:t>🔹 3. Financial Viability</a:t>
            </a:r>
          </a:p>
          <a:p>
            <a:r>
              <a:rPr lang="en-US" sz="1400" dirty="0"/>
              <a:t>• Can generate revenue through:</a:t>
            </a:r>
          </a:p>
          <a:p>
            <a:r>
              <a:rPr lang="en-US" sz="1400" dirty="0"/>
              <a:t>Premium subscription model</a:t>
            </a:r>
          </a:p>
          <a:p>
            <a:r>
              <a:rPr lang="en-US" sz="1400" dirty="0"/>
              <a:t>Advertisements</a:t>
            </a:r>
          </a:p>
          <a:p>
            <a:r>
              <a:rPr lang="en-US" sz="1400" dirty="0"/>
              <a:t>Trainer partnerships</a:t>
            </a:r>
            <a:br>
              <a:rPr lang="en-US" sz="1400" dirty="0"/>
            </a:br>
            <a:r>
              <a:rPr lang="en-US" sz="1400" dirty="0"/>
              <a:t>• Low operational cost ensures long-term sustainability</a:t>
            </a:r>
            <a:endParaRPr lang="en-US" dirty="0"/>
          </a:p>
          <a:p>
            <a:r>
              <a:rPr lang="en-US" sz="1600" b="1" dirty="0"/>
              <a:t>🔹 4. Scalability &amp; Growth Viability</a:t>
            </a:r>
          </a:p>
          <a:p>
            <a:r>
              <a:rPr lang="en-US" sz="1400" dirty="0"/>
              <a:t>• Can expand to include:</a:t>
            </a:r>
          </a:p>
          <a:p>
            <a:r>
              <a:rPr lang="en-US" sz="1400" dirty="0"/>
              <a:t>Diet planning</a:t>
            </a:r>
          </a:p>
          <a:p>
            <a:r>
              <a:rPr lang="en-US" sz="1400" dirty="0"/>
              <a:t>AI-based recommendations</a:t>
            </a:r>
          </a:p>
          <a:p>
            <a:r>
              <a:rPr lang="en-US" sz="1400" dirty="0"/>
              <a:t>Wearable device integration</a:t>
            </a:r>
            <a:br>
              <a:rPr lang="en-US" sz="1400" dirty="0"/>
            </a:br>
            <a:r>
              <a:rPr lang="en-US" sz="1400" dirty="0"/>
              <a:t>• Cloud-based deployment supports growth</a:t>
            </a:r>
            <a:br>
              <a:rPr lang="en-US" sz="1400" dirty="0"/>
            </a:br>
            <a:r>
              <a:rPr lang="en-US" sz="1400" dirty="0"/>
              <a:t>• Can scale to multiple cities or globally</a:t>
            </a:r>
            <a:endParaRPr lang="en-US" sz="1600" dirty="0"/>
          </a:p>
        </p:txBody>
      </p:sp>
      <p:cxnSp>
        <p:nvCxnSpPr>
          <p:cNvPr id="8" name="Straight Connector 7">
            <a:extLst>
              <a:ext uri="{FF2B5EF4-FFF2-40B4-BE49-F238E27FC236}">
                <a16:creationId xmlns:a16="http://schemas.microsoft.com/office/drawing/2014/main" id="{F9150057-D9C7-6E8D-7B15-8D0EEE41CB1F}"/>
              </a:ext>
            </a:extLst>
          </p:cNvPr>
          <p:cNvCxnSpPr/>
          <p:nvPr/>
        </p:nvCxnSpPr>
        <p:spPr>
          <a:xfrm>
            <a:off x="5820697" y="772150"/>
            <a:ext cx="78658" cy="5582612"/>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3387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u="sng" dirty="0">
                <a:solidFill>
                  <a:srgbClr val="FF0000"/>
                </a:solidFill>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492875"/>
            <a:ext cx="3204000" cy="365125"/>
          </a:xfrm>
        </p:spPr>
        <p:txBody>
          <a:bodyPr/>
          <a:lstStyle/>
          <a:p>
            <a:pPr>
              <a:defRPr/>
            </a:pPr>
            <a:r>
              <a:rPr lang="en-US" dirty="0">
                <a:solidFill>
                  <a:schemeClr val="bg1"/>
                </a:solidFill>
              </a:rPr>
              <a:t>@NavkalpanaHackathon</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4" name="TextBox 3">
            <a:extLst>
              <a:ext uri="{FF2B5EF4-FFF2-40B4-BE49-F238E27FC236}">
                <a16:creationId xmlns:a16="http://schemas.microsoft.com/office/drawing/2014/main" id="{E8EA62EF-43FC-828F-B037-2148096C8834}"/>
              </a:ext>
            </a:extLst>
          </p:cNvPr>
          <p:cNvSpPr txBox="1"/>
          <p:nvPr/>
        </p:nvSpPr>
        <p:spPr>
          <a:xfrm>
            <a:off x="216310" y="768231"/>
            <a:ext cx="4942571" cy="5847755"/>
          </a:xfrm>
          <a:prstGeom prst="rect">
            <a:avLst/>
          </a:prstGeom>
          <a:noFill/>
        </p:spPr>
        <p:txBody>
          <a:bodyPr wrap="none" rtlCol="0">
            <a:spAutoFit/>
          </a:bodyPr>
          <a:lstStyle/>
          <a:p>
            <a:r>
              <a:rPr lang="en-US" sz="2000" b="1" dirty="0"/>
              <a:t>🌍 Impact (Smart Workout Planner)</a:t>
            </a:r>
          </a:p>
          <a:p>
            <a:r>
              <a:rPr lang="en-US" sz="1200" b="1" dirty="0"/>
              <a:t>🔹 1. Health &amp; Lifestyle Impact</a:t>
            </a:r>
          </a:p>
          <a:p>
            <a:r>
              <a:rPr lang="en-US" sz="1200" dirty="0"/>
              <a:t>• Encourages a healthy and active lifestyle</a:t>
            </a:r>
            <a:br>
              <a:rPr lang="en-US" sz="1200" dirty="0"/>
            </a:br>
            <a:r>
              <a:rPr lang="en-US" sz="1200" dirty="0"/>
              <a:t>• Helps users maintain regular workout routines</a:t>
            </a:r>
            <a:br>
              <a:rPr lang="en-US" sz="1200" dirty="0"/>
            </a:br>
            <a:r>
              <a:rPr lang="en-US" sz="1200" dirty="0"/>
              <a:t>• Reduces sedentary habits among students and professionals</a:t>
            </a:r>
          </a:p>
          <a:p>
            <a:r>
              <a:rPr lang="en-US" sz="1200" b="1" dirty="0"/>
              <a:t>🔹 2. User Productivity Impact</a:t>
            </a:r>
          </a:p>
          <a:p>
            <a:r>
              <a:rPr lang="en-US" sz="1200" dirty="0"/>
              <a:t>• Saves time by providing automated workout plans</a:t>
            </a:r>
            <a:br>
              <a:rPr lang="en-US" sz="1200" dirty="0"/>
            </a:br>
            <a:r>
              <a:rPr lang="en-US" sz="1200" dirty="0"/>
              <a:t>• Removes confusion in planning daily exercises</a:t>
            </a:r>
            <a:br>
              <a:rPr lang="en-US" sz="1200" dirty="0"/>
            </a:br>
            <a:r>
              <a:rPr lang="en-US" sz="1200" dirty="0"/>
              <a:t>• Improves consistency and discipline in fitness goals</a:t>
            </a:r>
          </a:p>
          <a:p>
            <a:r>
              <a:rPr lang="en-US" sz="1200" b="1" dirty="0"/>
              <a:t>🔹 3. Social Impact</a:t>
            </a:r>
          </a:p>
          <a:p>
            <a:r>
              <a:rPr lang="en-US" sz="1200" dirty="0"/>
              <a:t>• Promotes awareness about fitness and well-being</a:t>
            </a:r>
            <a:br>
              <a:rPr lang="en-US" sz="1200" dirty="0"/>
            </a:br>
            <a:r>
              <a:rPr lang="en-US" sz="1200" dirty="0"/>
              <a:t>• Can be used by beginners who lack proper guidance</a:t>
            </a:r>
            <a:br>
              <a:rPr lang="en-US" sz="1200" dirty="0"/>
            </a:br>
            <a:r>
              <a:rPr lang="en-US" sz="1200" dirty="0"/>
              <a:t>• Supports inclusive fitness for all age groups</a:t>
            </a:r>
          </a:p>
          <a:p>
            <a:r>
              <a:rPr lang="en-US" sz="1200" b="1" dirty="0"/>
              <a:t>🔹 4. Technological Impact</a:t>
            </a:r>
          </a:p>
          <a:p>
            <a:r>
              <a:rPr lang="en-US" sz="1200" dirty="0"/>
              <a:t>• Demonstrates use of AI/automation in fitness planning</a:t>
            </a:r>
            <a:br>
              <a:rPr lang="en-US" sz="1200" dirty="0"/>
            </a:br>
            <a:r>
              <a:rPr lang="en-US" sz="1200" dirty="0"/>
              <a:t>• Encourages adoption of smart health applications</a:t>
            </a:r>
            <a:br>
              <a:rPr lang="en-US" sz="1200" dirty="0"/>
            </a:br>
            <a:r>
              <a:rPr lang="en-US" sz="1200" dirty="0"/>
              <a:t>• Shows integration of modern technology in daily life</a:t>
            </a:r>
          </a:p>
          <a:p>
            <a:r>
              <a:rPr lang="en-US" sz="1200" b="1" dirty="0"/>
              <a:t>🔹 5. Economic Impact</a:t>
            </a:r>
          </a:p>
          <a:p>
            <a:r>
              <a:rPr lang="en-US" sz="1200" dirty="0"/>
              <a:t>• Reduces dependency on expensive personal trainers</a:t>
            </a:r>
            <a:br>
              <a:rPr lang="en-US" sz="1200" dirty="0"/>
            </a:br>
            <a:r>
              <a:rPr lang="en-US" sz="1200" dirty="0"/>
              <a:t>• Affordable fitness solution for students</a:t>
            </a:r>
            <a:br>
              <a:rPr lang="en-US" sz="1200" dirty="0"/>
            </a:br>
            <a:r>
              <a:rPr lang="en-US" sz="1200" dirty="0"/>
              <a:t>• Potential for startup and business opportunities</a:t>
            </a:r>
          </a:p>
          <a:p>
            <a:r>
              <a:rPr lang="en-US" sz="1200" b="1" dirty="0"/>
              <a:t>🔹 6. Educational Impact</a:t>
            </a:r>
          </a:p>
          <a:p>
            <a:r>
              <a:rPr lang="en-US" sz="1200" dirty="0"/>
              <a:t>• Useful for learning about health, fitness, and technology</a:t>
            </a:r>
            <a:br>
              <a:rPr lang="en-US" sz="1200" dirty="0"/>
            </a:br>
            <a:r>
              <a:rPr lang="en-US" sz="1200" dirty="0"/>
              <a:t>• Enhances awareness of personalized training systems</a:t>
            </a:r>
            <a:br>
              <a:rPr lang="en-US" sz="1200" dirty="0"/>
            </a:br>
            <a:r>
              <a:rPr lang="en-US" sz="1200" dirty="0"/>
              <a:t>• Demonstrates real-world application of software development concepts</a:t>
            </a:r>
          </a:p>
          <a:p>
            <a:r>
              <a:rPr lang="en-US" sz="1200" b="1" dirty="0"/>
              <a:t>🔹 7. Long-Term Impact</a:t>
            </a:r>
          </a:p>
          <a:p>
            <a:r>
              <a:rPr lang="en-US" sz="1200" dirty="0"/>
              <a:t>• Improves overall physical and mental well-being</a:t>
            </a:r>
            <a:br>
              <a:rPr lang="en-US" sz="1200" dirty="0"/>
            </a:br>
            <a:r>
              <a:rPr lang="en-US" sz="1200" dirty="0"/>
              <a:t>• Builds sustainable fitness habits</a:t>
            </a:r>
            <a:br>
              <a:rPr lang="en-US" sz="1200" dirty="0"/>
            </a:br>
            <a:r>
              <a:rPr lang="en-US" sz="1200" dirty="0"/>
              <a:t>• Scalable to include diet plans, wearable tracking, and advanced AI features</a:t>
            </a:r>
          </a:p>
          <a:p>
            <a:endParaRPr lang="en-IN" dirty="0"/>
          </a:p>
        </p:txBody>
      </p:sp>
      <p:sp>
        <p:nvSpPr>
          <p:cNvPr id="8" name="TextBox 7">
            <a:extLst>
              <a:ext uri="{FF2B5EF4-FFF2-40B4-BE49-F238E27FC236}">
                <a16:creationId xmlns:a16="http://schemas.microsoft.com/office/drawing/2014/main" id="{26988681-9DE2-A70F-9B41-E83B83AE29C0}"/>
              </a:ext>
            </a:extLst>
          </p:cNvPr>
          <p:cNvSpPr txBox="1"/>
          <p:nvPr/>
        </p:nvSpPr>
        <p:spPr>
          <a:xfrm>
            <a:off x="6638945" y="768231"/>
            <a:ext cx="3905236" cy="5816977"/>
          </a:xfrm>
          <a:prstGeom prst="rect">
            <a:avLst/>
          </a:prstGeom>
          <a:noFill/>
        </p:spPr>
        <p:txBody>
          <a:bodyPr wrap="none" rtlCol="0">
            <a:spAutoFit/>
          </a:bodyPr>
          <a:lstStyle/>
          <a:p>
            <a:r>
              <a:rPr lang="en-US" b="1" dirty="0"/>
              <a:t>✅ Benefits of Smart Workout Planner</a:t>
            </a:r>
          </a:p>
          <a:p>
            <a:r>
              <a:rPr lang="en-US" sz="1200" b="1" dirty="0"/>
              <a:t>🔹 1. Personalized Workout Plans</a:t>
            </a:r>
          </a:p>
          <a:p>
            <a:r>
              <a:rPr lang="en-US" sz="1200" dirty="0"/>
              <a:t>• Generates workout routines based on user preferences</a:t>
            </a:r>
            <a:br>
              <a:rPr lang="en-US" sz="1200" dirty="0"/>
            </a:br>
            <a:r>
              <a:rPr lang="en-US" sz="1200" dirty="0"/>
              <a:t>• Suitable for beginners and intermediate users</a:t>
            </a:r>
            <a:br>
              <a:rPr lang="en-US" sz="1200" dirty="0"/>
            </a:br>
            <a:r>
              <a:rPr lang="en-US" sz="1200" dirty="0"/>
              <a:t>• Adapts according to fitness goals</a:t>
            </a:r>
          </a:p>
          <a:p>
            <a:r>
              <a:rPr lang="en-US" sz="1200" b="1" dirty="0"/>
              <a:t>🔹 2. Time Saving</a:t>
            </a:r>
          </a:p>
          <a:p>
            <a:r>
              <a:rPr lang="en-US" sz="1200" dirty="0"/>
              <a:t>• Eliminates manual workout planning</a:t>
            </a:r>
            <a:br>
              <a:rPr lang="en-US" sz="1200" dirty="0"/>
            </a:br>
            <a:r>
              <a:rPr lang="en-US" sz="1200" dirty="0"/>
              <a:t>• Quick access to structured routines</a:t>
            </a:r>
            <a:br>
              <a:rPr lang="en-US" sz="1200" dirty="0"/>
            </a:br>
            <a:r>
              <a:rPr lang="en-US" sz="1200" dirty="0"/>
              <a:t>• Reduces confusion about what to train daily</a:t>
            </a:r>
          </a:p>
          <a:p>
            <a:r>
              <a:rPr lang="en-US" sz="1200" b="1" dirty="0"/>
              <a:t>🔹 3. Cost Effective</a:t>
            </a:r>
          </a:p>
          <a:p>
            <a:r>
              <a:rPr lang="en-US" sz="1200" dirty="0"/>
              <a:t>• Free or low-cost alternative to personal trainers</a:t>
            </a:r>
            <a:br>
              <a:rPr lang="en-US" sz="1200" dirty="0"/>
            </a:br>
            <a:r>
              <a:rPr lang="en-US" sz="1200" dirty="0"/>
              <a:t>• No need for expensive fitness consultation</a:t>
            </a:r>
            <a:br>
              <a:rPr lang="en-US" sz="1200" dirty="0"/>
            </a:br>
            <a:r>
              <a:rPr lang="en-US" sz="1200" dirty="0"/>
              <a:t>• Affordable solution for students</a:t>
            </a:r>
          </a:p>
          <a:p>
            <a:r>
              <a:rPr lang="en-US" sz="1200" b="1" dirty="0"/>
              <a:t>🔹 4. Easy to Use</a:t>
            </a:r>
          </a:p>
          <a:p>
            <a:r>
              <a:rPr lang="en-US" sz="1200" dirty="0"/>
              <a:t>• Simple and user-friendly interface</a:t>
            </a:r>
            <a:br>
              <a:rPr lang="en-US" sz="1200" dirty="0"/>
            </a:br>
            <a:r>
              <a:rPr lang="en-US" sz="1200" dirty="0"/>
              <a:t>• Accessible anytime, anywhere</a:t>
            </a:r>
            <a:br>
              <a:rPr lang="en-US" sz="1200" dirty="0"/>
            </a:br>
            <a:r>
              <a:rPr lang="en-US" sz="1200" dirty="0"/>
              <a:t>• Requires minimal technical knowledge</a:t>
            </a:r>
          </a:p>
          <a:p>
            <a:r>
              <a:rPr lang="en-US" sz="1200" b="1" dirty="0"/>
              <a:t>🔹 5. Improved Consistency</a:t>
            </a:r>
          </a:p>
          <a:p>
            <a:r>
              <a:rPr lang="en-US" sz="1200" dirty="0"/>
              <a:t>• Encourages regular workout tracking</a:t>
            </a:r>
            <a:br>
              <a:rPr lang="en-US" sz="1200" dirty="0"/>
            </a:br>
            <a:r>
              <a:rPr lang="en-US" sz="1200" dirty="0"/>
              <a:t>• Helps build discipline</a:t>
            </a:r>
            <a:br>
              <a:rPr lang="en-US" sz="1200" dirty="0"/>
            </a:br>
            <a:r>
              <a:rPr lang="en-US" sz="1200" dirty="0"/>
              <a:t>• Increases motivation through structured plans</a:t>
            </a:r>
          </a:p>
          <a:p>
            <a:r>
              <a:rPr lang="en-US" sz="1200" b="1" dirty="0"/>
              <a:t>🔹 6. Progress Monitoring</a:t>
            </a:r>
          </a:p>
          <a:p>
            <a:r>
              <a:rPr lang="en-US" sz="1200" dirty="0"/>
              <a:t>• Tracks completed workouts</a:t>
            </a:r>
            <a:br>
              <a:rPr lang="en-US" sz="1200" dirty="0"/>
            </a:br>
            <a:r>
              <a:rPr lang="en-US" sz="1200" dirty="0"/>
              <a:t>• Helps users analyze improvement</a:t>
            </a:r>
            <a:br>
              <a:rPr lang="en-US" sz="1200" dirty="0"/>
            </a:br>
            <a:r>
              <a:rPr lang="en-US" sz="1200" dirty="0"/>
              <a:t>• Keeps users accountable</a:t>
            </a:r>
          </a:p>
          <a:p>
            <a:r>
              <a:rPr lang="en-US" sz="1200" b="1" dirty="0"/>
              <a:t>🔹 7. Scalable &amp; Future Ready</a:t>
            </a:r>
          </a:p>
          <a:p>
            <a:r>
              <a:rPr lang="en-US" sz="1200" dirty="0"/>
              <a:t>• Can integrate diet planning</a:t>
            </a:r>
            <a:br>
              <a:rPr lang="en-US" sz="1200" dirty="0"/>
            </a:br>
            <a:r>
              <a:rPr lang="en-US" sz="1200" dirty="0"/>
              <a:t>• Can connect with wearable devices</a:t>
            </a:r>
            <a:br>
              <a:rPr lang="en-US" sz="1200" dirty="0"/>
            </a:br>
            <a:r>
              <a:rPr lang="en-US" sz="1200" dirty="0"/>
              <a:t>• Supports AI-based enhancements</a:t>
            </a:r>
          </a:p>
          <a:p>
            <a:endParaRPr lang="en-IN" dirty="0"/>
          </a:p>
        </p:txBody>
      </p:sp>
      <p:cxnSp>
        <p:nvCxnSpPr>
          <p:cNvPr id="13" name="Straight Connector 12">
            <a:extLst>
              <a:ext uri="{FF2B5EF4-FFF2-40B4-BE49-F238E27FC236}">
                <a16:creationId xmlns:a16="http://schemas.microsoft.com/office/drawing/2014/main" id="{5177698E-46E5-7FD6-B05C-EFA851F863A7}"/>
              </a:ext>
            </a:extLst>
          </p:cNvPr>
          <p:cNvCxnSpPr/>
          <p:nvPr/>
        </p:nvCxnSpPr>
        <p:spPr>
          <a:xfrm>
            <a:off x="5801032" y="768231"/>
            <a:ext cx="0" cy="5426092"/>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7144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u="sng" dirty="0">
                <a:solidFill>
                  <a:srgbClr val="FF0000"/>
                </a:solidFill>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492875"/>
            <a:ext cx="3204000" cy="365125"/>
          </a:xfrm>
        </p:spPr>
        <p:txBody>
          <a:bodyPr/>
          <a:lstStyle/>
          <a:p>
            <a:pPr>
              <a:defRPr/>
            </a:pPr>
            <a:r>
              <a:rPr lang="en-US" dirty="0">
                <a:solidFill>
                  <a:schemeClr val="bg1"/>
                </a:solidFill>
              </a:rPr>
              <a:t>@NavkalpanaHackathon</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2" name="TextBox 1">
            <a:extLst>
              <a:ext uri="{FF2B5EF4-FFF2-40B4-BE49-F238E27FC236}">
                <a16:creationId xmlns:a16="http://schemas.microsoft.com/office/drawing/2014/main" id="{D70D9866-6778-1B8B-0E18-92A067186003}"/>
              </a:ext>
            </a:extLst>
          </p:cNvPr>
          <p:cNvSpPr txBox="1"/>
          <p:nvPr/>
        </p:nvSpPr>
        <p:spPr>
          <a:xfrm>
            <a:off x="186815" y="949286"/>
            <a:ext cx="5820695" cy="5909310"/>
          </a:xfrm>
          <a:prstGeom prst="rect">
            <a:avLst/>
          </a:prstGeom>
          <a:noFill/>
        </p:spPr>
        <p:txBody>
          <a:bodyPr wrap="square" rtlCol="0">
            <a:spAutoFit/>
          </a:bodyPr>
          <a:lstStyle/>
          <a:p>
            <a:r>
              <a:rPr lang="en-US" sz="1600" b="1" dirty="0"/>
              <a:t>🔹 1. Importance of Regular Physical Activity</a:t>
            </a:r>
          </a:p>
          <a:p>
            <a:r>
              <a:rPr lang="en-US" sz="1600" dirty="0"/>
              <a:t>World Health Organization (WHO) highlights that regular physical activity reduces risk of chronic diseases and improves mental health.</a:t>
            </a:r>
            <a:br>
              <a:rPr lang="en-US" sz="1600" dirty="0"/>
            </a:br>
            <a:r>
              <a:rPr lang="en-US" sz="1600" dirty="0"/>
              <a:t>🔗 </a:t>
            </a:r>
            <a:r>
              <a:rPr lang="en-US" sz="1600" dirty="0">
                <a:hlinkClick r:id="rId3"/>
              </a:rPr>
              <a:t>https://www.who.int/news-room/fact-sheets/detail/physical-activity</a:t>
            </a:r>
            <a:endParaRPr lang="en-US" sz="1600" dirty="0"/>
          </a:p>
          <a:p>
            <a:br>
              <a:rPr lang="en-US" sz="1600" dirty="0"/>
            </a:br>
            <a:endParaRPr lang="en-US" sz="1600" dirty="0"/>
          </a:p>
          <a:p>
            <a:r>
              <a:rPr lang="en-US" sz="1600" b="1" dirty="0"/>
              <a:t>🔹 2. Benefits of Personalized Workout Programs</a:t>
            </a:r>
          </a:p>
          <a:p>
            <a:r>
              <a:rPr lang="en-US" sz="1600" dirty="0"/>
              <a:t>Research shows personalized training programs improve adherence and performance outcomes.</a:t>
            </a:r>
            <a:br>
              <a:rPr lang="en-US" sz="1600" dirty="0"/>
            </a:br>
            <a:r>
              <a:rPr lang="en-US" sz="1600" dirty="0"/>
              <a:t>🔗 American College of Sports Medicine (ACSM)</a:t>
            </a:r>
            <a:br>
              <a:rPr lang="en-US" sz="1600" dirty="0"/>
            </a:br>
            <a:r>
              <a:rPr lang="en-US" sz="1600" dirty="0">
                <a:hlinkClick r:id="rId4"/>
              </a:rPr>
              <a:t>https://www.acsm.org</a:t>
            </a:r>
            <a:endParaRPr lang="en-US" sz="1600" dirty="0"/>
          </a:p>
          <a:p>
            <a:r>
              <a:rPr lang="en-US" sz="1600" dirty="0"/>
              <a:t>Research Article (NIH):</a:t>
            </a:r>
            <a:br>
              <a:rPr lang="en-US" sz="1600" dirty="0"/>
            </a:br>
            <a:r>
              <a:rPr lang="en-US" sz="1600" dirty="0"/>
              <a:t>🔗 https://www.ncbi.nlm.nih.gov/pmc/articles/PMC6019055/</a:t>
            </a:r>
          </a:p>
          <a:p>
            <a:br>
              <a:rPr lang="en-US" sz="1600" dirty="0"/>
            </a:br>
            <a:endParaRPr lang="en-US" sz="1600" dirty="0"/>
          </a:p>
          <a:p>
            <a:r>
              <a:rPr lang="en-US" sz="1600" b="1" dirty="0"/>
              <a:t>🔹 3. Digital Health &amp; Fitness Applications Growth</a:t>
            </a:r>
          </a:p>
          <a:p>
            <a:r>
              <a:rPr lang="en-US" sz="1600" dirty="0"/>
              <a:t>Global fitness app market is growing due to rising health awareness and smartphone penetration.</a:t>
            </a:r>
            <a:br>
              <a:rPr lang="en-US" sz="1600" dirty="0"/>
            </a:br>
            <a:r>
              <a:rPr lang="en-US" sz="1600" dirty="0"/>
              <a:t>🔗 https://www.statista.com/topics/2924/fitness-apps/</a:t>
            </a:r>
          </a:p>
          <a:p>
            <a:br>
              <a:rPr lang="en-US" sz="1200" dirty="0"/>
            </a:br>
            <a:endParaRPr lang="en-US" sz="1200" dirty="0"/>
          </a:p>
          <a:p>
            <a:endParaRPr lang="en-IN" dirty="0"/>
          </a:p>
        </p:txBody>
      </p:sp>
      <p:sp>
        <p:nvSpPr>
          <p:cNvPr id="3" name="TextBox 2">
            <a:extLst>
              <a:ext uri="{FF2B5EF4-FFF2-40B4-BE49-F238E27FC236}">
                <a16:creationId xmlns:a16="http://schemas.microsoft.com/office/drawing/2014/main" id="{4D677536-CEF8-5863-B12E-2D8EC17542F6}"/>
              </a:ext>
            </a:extLst>
          </p:cNvPr>
          <p:cNvSpPr txBox="1"/>
          <p:nvPr/>
        </p:nvSpPr>
        <p:spPr>
          <a:xfrm>
            <a:off x="6250200" y="889238"/>
            <a:ext cx="5869857" cy="5786199"/>
          </a:xfrm>
          <a:prstGeom prst="rect">
            <a:avLst/>
          </a:prstGeom>
          <a:noFill/>
        </p:spPr>
        <p:txBody>
          <a:bodyPr wrap="square" rtlCol="0">
            <a:spAutoFit/>
          </a:bodyPr>
          <a:lstStyle/>
          <a:p>
            <a:r>
              <a:rPr lang="en-US" sz="1600" b="1" dirty="0"/>
              <a:t>🔹 4. Impact of Fitness Tracking Applications</a:t>
            </a:r>
          </a:p>
          <a:p>
            <a:r>
              <a:rPr lang="en-US" sz="1600" dirty="0"/>
              <a:t>Study shows fitness apps increase motivation and consistency in users.</a:t>
            </a:r>
            <a:br>
              <a:rPr lang="en-US" sz="1600" dirty="0"/>
            </a:br>
            <a:r>
              <a:rPr lang="en-US" sz="1600" dirty="0"/>
              <a:t>NIH Research Paper:</a:t>
            </a:r>
            <a:br>
              <a:rPr lang="en-US" sz="1600" dirty="0"/>
            </a:br>
            <a:r>
              <a:rPr lang="en-US" sz="1600" dirty="0"/>
              <a:t>🔗 https://www.ncbi.nlm.nih.gov/pmc/articles/PMC4309173/</a:t>
            </a:r>
          </a:p>
          <a:p>
            <a:br>
              <a:rPr lang="en-US" sz="1600" dirty="0"/>
            </a:br>
            <a:endParaRPr lang="en-US" sz="1600" dirty="0"/>
          </a:p>
          <a:p>
            <a:r>
              <a:rPr lang="en-US" sz="1600" b="1" dirty="0"/>
              <a:t>🔹 5. Use of AI in Health &amp; Fitness</a:t>
            </a:r>
          </a:p>
          <a:p>
            <a:r>
              <a:rPr lang="en-US" sz="1600" dirty="0"/>
              <a:t>AI-based recommendations improve personalization and engagement in digital health systems.</a:t>
            </a:r>
            <a:br>
              <a:rPr lang="en-US" sz="1600" dirty="0"/>
            </a:br>
            <a:r>
              <a:rPr lang="en-US" sz="1600" dirty="0"/>
              <a:t>🔗 https://www.sciencedirect.com/science/article/pii/S1532046419301268</a:t>
            </a:r>
          </a:p>
          <a:p>
            <a:br>
              <a:rPr lang="en-US" sz="1600" dirty="0"/>
            </a:br>
            <a:endParaRPr lang="en-US" sz="1600" dirty="0"/>
          </a:p>
          <a:p>
            <a:r>
              <a:rPr lang="en-US" sz="1600" b="1" dirty="0"/>
              <a:t>🔹 6. Technical References (Development Technologies)</a:t>
            </a:r>
          </a:p>
          <a:p>
            <a:r>
              <a:rPr lang="en-US" sz="1600" dirty="0"/>
              <a:t>• React Documentation</a:t>
            </a:r>
            <a:br>
              <a:rPr lang="en-US" sz="1600" dirty="0"/>
            </a:br>
            <a:r>
              <a:rPr lang="en-US" sz="1600" dirty="0"/>
              <a:t>🔗 </a:t>
            </a:r>
            <a:r>
              <a:rPr lang="en-US" sz="1600" dirty="0">
                <a:hlinkClick r:id="rId5"/>
              </a:rPr>
              <a:t>https://react.dev</a:t>
            </a:r>
            <a:endParaRPr lang="en-US" sz="1600" dirty="0"/>
          </a:p>
          <a:p>
            <a:r>
              <a:rPr lang="en-US" sz="1600" dirty="0"/>
              <a:t>• Node.js Documentation</a:t>
            </a:r>
            <a:br>
              <a:rPr lang="en-US" sz="1600" dirty="0"/>
            </a:br>
            <a:r>
              <a:rPr lang="en-US" sz="1600" dirty="0"/>
              <a:t>🔗 </a:t>
            </a:r>
            <a:r>
              <a:rPr lang="en-US" sz="1600" dirty="0">
                <a:hlinkClick r:id="rId6"/>
              </a:rPr>
              <a:t>https://nodejs.org</a:t>
            </a:r>
            <a:endParaRPr lang="en-US" sz="1600" dirty="0"/>
          </a:p>
          <a:p>
            <a:r>
              <a:rPr lang="en-US" sz="1600" dirty="0"/>
              <a:t>• MongoDB Documentation</a:t>
            </a:r>
            <a:br>
              <a:rPr lang="en-US" sz="1600" dirty="0"/>
            </a:br>
            <a:r>
              <a:rPr lang="en-US" sz="1600" dirty="0"/>
              <a:t>🔗 </a:t>
            </a:r>
            <a:r>
              <a:rPr lang="en-US" sz="1600" dirty="0">
                <a:hlinkClick r:id="rId7"/>
              </a:rPr>
              <a:t>https://www.mongodb.com/docs/</a:t>
            </a:r>
            <a:endParaRPr lang="en-US" sz="1600" dirty="0"/>
          </a:p>
          <a:p>
            <a:endParaRPr lang="en-IN" dirty="0"/>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7549</TotalTime>
  <Words>1659</Words>
  <Application>Microsoft Office PowerPoint</Application>
  <PresentationFormat>Widescreen</PresentationFormat>
  <Paragraphs>126</Paragraphs>
  <Slides>7</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ＭＳ Ｐゴシック</vt:lpstr>
      <vt:lpstr>Arial</vt:lpstr>
      <vt:lpstr>Calibri</vt:lpstr>
      <vt:lpstr>Garamond</vt:lpstr>
      <vt:lpstr>Times New Roman</vt:lpstr>
      <vt:lpstr>TradeGothic</vt:lpstr>
      <vt:lpstr>Office Theme</vt:lpstr>
      <vt:lpstr>NAVKALPANA HACKATHON 2026</vt:lpstr>
      <vt:lpstr> WORKOUT MANAGEMENT SYSTEM USING MERN STACK</vt:lpstr>
      <vt:lpstr>TECHNICAL APPROACH</vt:lpstr>
      <vt:lpstr>PROTOTYPE INTERNAL PIC</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MUSHARAF ALI</cp:lastModifiedBy>
  <cp:revision>150</cp:revision>
  <dcterms:created xsi:type="dcterms:W3CDTF">2013-12-12T18:46:50Z</dcterms:created>
  <dcterms:modified xsi:type="dcterms:W3CDTF">2026-02-24T15:38:20Z</dcterms:modified>
  <cp:category/>
</cp:coreProperties>
</file>