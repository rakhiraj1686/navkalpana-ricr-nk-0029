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7" r:id="rId5"/>
    <p:sldId id="293" r:id="rId6"/>
    <p:sldId id="294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593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192B6-D970-2572-048F-556B2BAC9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994C9A63-45A8-A36E-51AB-F322A9A9E3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9BA7481C-6197-7654-4DB3-73CCE7EF8E0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5D9A1368-90EF-FC0B-E955-BA528673F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890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khiraj1686/NavKalpana-RICR-NK-0029.gi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ho.int/news-room/fact-sheets/detail/physical-activity" TargetMode="External"/><Relationship Id="rId7" Type="http://schemas.openxmlformats.org/officeDocument/2006/relationships/hyperlink" Target="https://www.mongodb.com/docs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odejs.org/" TargetMode="External"/><Relationship Id="rId5" Type="http://schemas.openxmlformats.org/officeDocument/2006/relationships/hyperlink" Target="https://react.dev/" TargetMode="External"/><Relationship Id="rId4" Type="http://schemas.openxmlformats.org/officeDocument/2006/relationships/hyperlink" Target="https://www.acsm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NAVKALPANA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9700" y="2076450"/>
            <a:ext cx="9314159" cy="320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HealthTech Solution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 </a:t>
            </a:r>
            <a:r>
              <a:rPr 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HealthTech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RICR-NK-0029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58301" y="-369086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u="sng" dirty="0">
                <a:solidFill>
                  <a:srgbClr val="FF0000"/>
                </a:solidFill>
              </a:rPr>
              <a:t>WORKOUT MANAGEMENT SYSTEM USING MERN STACK</a:t>
            </a:r>
            <a:endParaRPr lang="en-US" sz="3600" b="1" u="sng" dirty="0">
              <a:solidFill>
                <a:srgbClr val="FF0000"/>
              </a:solidFill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 flipV="1">
            <a:off x="6832877" y="6354762"/>
            <a:ext cx="5469652" cy="126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@NavkalpanaHackathon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7A352C-5CE3-6B55-50DB-F7E27473E7E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82997" y="669931"/>
            <a:ext cx="6453777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💡 Project Idea – Smart Workout Planner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/>
              <a:t>The Smart Workout Planner is a full-stack web application designed to help users plan, manage, and track their daily workout routines efficiently.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/>
              <a:t>Many people face difficulty maintaining fitness consistency due to a lack of structured workout plans and proper tracking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/>
              <a:t>This project solves that problem by providing a centralized digital platform for workout planning and fitness management.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/>
              <a:t>Users can create personalized workout plans based on their daily schedule and fitness goals.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/>
              <a:t>The application allows users to view all scheduled workouts in an organized dashboard.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/>
              <a:t>It enables users to add, edit, and manage their workout activities easily.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/>
              <a:t>The frontend of the application is built using React and Tailwind CSS to ensure a modern, responsive, and user-friendly interface.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/>
              <a:t>The backend is developed using Node.js and Express to handle APIs, server logic, and data processing.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/>
              <a:t>MongoDB is used as the database to store user information and workout data efficiently.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/>
              <a:t>The system follows a client-server architecture where the frontend communicates with the backend through REST APIs (such as fetching workouts and adding new plans).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/>
              <a:t>This architecture ensures scalability, fast performance, and smooth real-time data handling.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/>
              <a:t>The interactive dashboard helps users stay disciplined and consistent with their fitness routine.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3A4AC0-E7A7-7BC3-73A5-B9905FF2F659}"/>
              </a:ext>
            </a:extLst>
          </p:cNvPr>
          <p:cNvSpPr txBox="1"/>
          <p:nvPr/>
        </p:nvSpPr>
        <p:spPr>
          <a:xfrm>
            <a:off x="6577411" y="702469"/>
            <a:ext cx="512899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🛠️ Proposed Solution – Smart Workout Planner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dirty="0"/>
              <a:t>The proposed solution is a full-stack web application that offers a structured and user-friendly platform for planning and managing workout routines.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dirty="0"/>
              <a:t>The system enables users to create, view, and organize their workout plans through a centralized dashboard.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dirty="0"/>
              <a:t>This centralized approach makes fitness tracking more efficient, organized, and consistent compared to manual tracking methods.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dirty="0"/>
              <a:t>The application is developed using a modern MERN stack architecture.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dirty="0"/>
              <a:t>The frontend is built with React and Tailwind CSS to provide an interactive, responsive, and visually appealing user interface.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dirty="0"/>
              <a:t>The backend is developed using Node.js and Express to manage API requests, server-side logic, and application workflows.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dirty="0"/>
              <a:t>MongoDB is used as the database to store workout-related data such as workout title, duration, and calories burned.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dirty="0"/>
              <a:t>The database design ensures efficient, scalable, and fast data storage and retrieval.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dirty="0"/>
              <a:t>Users can add new workout plans and fetch all workouts using REST APIs (for example: /</a:t>
            </a:r>
            <a:r>
              <a:rPr lang="en-US" sz="1200" dirty="0" err="1"/>
              <a:t>api</a:t>
            </a:r>
            <a:r>
              <a:rPr lang="en-US" sz="1200" dirty="0"/>
              <a:t>/workout/all).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dirty="0"/>
              <a:t>Axios is used for smooth communication between the frontend and backend, enabling real-time data updates on the dashboard.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dirty="0"/>
              <a:t>The system includes proper routing and a modular backend structure to improve maintainability and scalability.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2401EF-2B3E-B623-6910-2F65D9B18C50}"/>
              </a:ext>
            </a:extLst>
          </p:cNvPr>
          <p:cNvSpPr txBox="1"/>
          <p:nvPr/>
        </p:nvSpPr>
        <p:spPr>
          <a:xfrm>
            <a:off x="6577411" y="5011019"/>
            <a:ext cx="1946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Git-Hub Link</a:t>
            </a:r>
            <a:r>
              <a:rPr lang="en-US" dirty="0"/>
              <a:t>:- </a:t>
            </a:r>
            <a:r>
              <a:rPr lang="en-US" b="1" dirty="0">
                <a:hlinkClick r:id="rId3"/>
              </a:rPr>
              <a:t>Link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DD992C-2F22-C949-4514-50354B7E5366}"/>
              </a:ext>
            </a:extLst>
          </p:cNvPr>
          <p:cNvSpPr txBox="1"/>
          <p:nvPr/>
        </p:nvSpPr>
        <p:spPr>
          <a:xfrm>
            <a:off x="182998" y="4228488"/>
            <a:ext cx="556401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⭐ Uniqueness of Smart Workout Planner</a:t>
            </a:r>
          </a:p>
          <a:p>
            <a:r>
              <a:rPr lang="en-IN" sz="1200" dirty="0"/>
              <a:t>• Full-Stack MERN Architecture (React, Node.js, Express, MongoDB)</a:t>
            </a:r>
            <a:br>
              <a:rPr lang="en-IN" sz="1200" dirty="0"/>
            </a:br>
            <a:r>
              <a:rPr lang="en-IN" sz="1200" dirty="0"/>
              <a:t>• Real-time API Integration using Axios</a:t>
            </a:r>
            <a:br>
              <a:rPr lang="en-IN" sz="1200" dirty="0"/>
            </a:br>
            <a:r>
              <a:rPr lang="en-IN" sz="1200" dirty="0"/>
              <a:t>• Clean and Responsive UI with Tailwind CSS</a:t>
            </a:r>
            <a:br>
              <a:rPr lang="en-IN" sz="1200" dirty="0"/>
            </a:br>
            <a:r>
              <a:rPr lang="en-IN" sz="1200" dirty="0"/>
              <a:t>• Structured Workout Management System (Create, View, Manage)</a:t>
            </a:r>
            <a:br>
              <a:rPr lang="en-IN" sz="1200" dirty="0"/>
            </a:br>
            <a:r>
              <a:rPr lang="en-IN" sz="1200" dirty="0"/>
              <a:t>• Modular Backend Design (Models, Routes, Controllers)</a:t>
            </a:r>
            <a:br>
              <a:rPr lang="en-IN" sz="1200" dirty="0"/>
            </a:br>
            <a:r>
              <a:rPr lang="en-IN" sz="1200" dirty="0"/>
              <a:t>• Scalable Database Structure using MongoDB</a:t>
            </a:r>
            <a:br>
              <a:rPr lang="en-IN" sz="1200" dirty="0"/>
            </a:br>
            <a:r>
              <a:rPr lang="en-IN" sz="1200" dirty="0"/>
              <a:t>• REST API-based Client-Server Communication</a:t>
            </a:r>
            <a:br>
              <a:rPr lang="en-IN" sz="1200" dirty="0"/>
            </a:br>
            <a:r>
              <a:rPr lang="en-IN" sz="1200" dirty="0"/>
              <a:t>• Easy to Upgrade with Future Enhancements (AI Suggestions, Analytics)</a:t>
            </a:r>
            <a:br>
              <a:rPr lang="en-IN" sz="1200" dirty="0"/>
            </a:br>
            <a:r>
              <a:rPr lang="en-IN" sz="1200" dirty="0"/>
              <a:t>• User-Friendly Dashboard for Better Experience</a:t>
            </a:r>
            <a:br>
              <a:rPr lang="en-IN" sz="1200" dirty="0"/>
            </a:br>
            <a:r>
              <a:rPr lang="en-IN" sz="1200" dirty="0"/>
              <a:t>• Practical Real-World Fitness Problem Solution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953FDC-9611-BDA8-3404-564A22D77407}"/>
              </a:ext>
            </a:extLst>
          </p:cNvPr>
          <p:cNvSpPr txBox="1"/>
          <p:nvPr/>
        </p:nvSpPr>
        <p:spPr>
          <a:xfrm>
            <a:off x="5069999" y="5516475"/>
            <a:ext cx="72088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Project </a:t>
            </a:r>
            <a:r>
              <a:rPr lang="en-US" b="1" dirty="0" err="1"/>
              <a:t>WorkFlow</a:t>
            </a:r>
            <a:r>
              <a:rPr lang="en-US" b="1" dirty="0"/>
              <a:t> </a:t>
            </a:r>
            <a:r>
              <a:rPr lang="en-US" dirty="0"/>
              <a:t>:- </a:t>
            </a:r>
            <a:r>
              <a:rPr lang="en-IN" dirty="0"/>
              <a:t>User → Frontend (React) → Axios API Call → Express Server → MongoDB → Response to UI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u="sng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92875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@NavkalpanaHackathon</a:t>
            </a:r>
          </a:p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CC0AE1-D177-C368-D229-FF9B3F186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33" y="820233"/>
            <a:ext cx="4907526" cy="30559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B50A80-785B-C67A-8CF7-E731AED74973}"/>
              </a:ext>
            </a:extLst>
          </p:cNvPr>
          <p:cNvSpPr txBox="1"/>
          <p:nvPr/>
        </p:nvSpPr>
        <p:spPr>
          <a:xfrm>
            <a:off x="1651819" y="820233"/>
            <a:ext cx="2066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TECHNOLOGY USED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ADD08C-8068-9F6A-E7CB-E0A54DE329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8379" y="1269869"/>
            <a:ext cx="6447988" cy="46801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0AC3F7-F16F-65DD-0D34-261A86639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255712"/>
            <a:ext cx="5540964" cy="29625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14A34-BAAF-3566-6320-AB6AC8A78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BBBD7D-C1CA-DA36-2289-5AFB2BD20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423934B7-A121-9D76-17BF-68C139D31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u="sng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PROTOTYPE INTERNAL 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EB146-F97F-E2D6-8698-09F095212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BB03FAA-3BE5-3918-DBD1-57E912E7D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492875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@NavkalpanaHackathon</a:t>
            </a:r>
          </a:p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565997-D823-C650-3871-D9F68AD24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851" y="802497"/>
            <a:ext cx="5850193" cy="3228730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C9A883DF-C02A-CE8D-16DA-D1BF32DF4C9B}"/>
              </a:ext>
            </a:extLst>
          </p:cNvPr>
          <p:cNvSpPr/>
          <p:nvPr/>
        </p:nvSpPr>
        <p:spPr>
          <a:xfrm>
            <a:off x="6091982" y="2536723"/>
            <a:ext cx="652045" cy="12781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69CFEC7-F2EA-2E6A-ED51-3C8366FC1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027" y="802497"/>
            <a:ext cx="5378245" cy="32287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CE8612-1533-17F1-B8DA-A7861ADFE0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5222" y="4193459"/>
            <a:ext cx="5512868" cy="2049104"/>
          </a:xfrm>
          <a:prstGeom prst="rect">
            <a:avLst/>
          </a:prstGeom>
        </p:spPr>
      </p:pic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8EE86ED1-1DE0-6094-2060-6E750232A30B}"/>
              </a:ext>
            </a:extLst>
          </p:cNvPr>
          <p:cNvCxnSpPr/>
          <p:nvPr/>
        </p:nvCxnSpPr>
        <p:spPr>
          <a:xfrm rot="10800000" flipV="1">
            <a:off x="8524569" y="4109883"/>
            <a:ext cx="1818967" cy="134701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9025D39-26BC-3972-7A6B-0461C0B35671}"/>
              </a:ext>
            </a:extLst>
          </p:cNvPr>
          <p:cNvCxnSpPr/>
          <p:nvPr/>
        </p:nvCxnSpPr>
        <p:spPr>
          <a:xfrm flipV="1">
            <a:off x="10343536" y="4031227"/>
            <a:ext cx="0" cy="786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701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u="sng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551871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@NavkalpanaHackathon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9CEDE2-D0B9-53F7-721C-E02EF9472094}"/>
              </a:ext>
            </a:extLst>
          </p:cNvPr>
          <p:cNvSpPr txBox="1"/>
          <p:nvPr/>
        </p:nvSpPr>
        <p:spPr>
          <a:xfrm>
            <a:off x="225461" y="678081"/>
            <a:ext cx="109728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✅ Feasibility Analysis – Smart Workout Planner</a:t>
            </a:r>
          </a:p>
          <a:p>
            <a:r>
              <a:rPr lang="en-US" sz="1600" b="1" dirty="0"/>
              <a:t>🔹 1. Technical Feasibility</a:t>
            </a:r>
          </a:p>
          <a:p>
            <a:r>
              <a:rPr lang="en-US" sz="1400" dirty="0"/>
              <a:t>• Built using widely used technologies (React, Node.js, Express, MongoDB)</a:t>
            </a:r>
            <a:br>
              <a:rPr lang="en-US" sz="1400" dirty="0"/>
            </a:br>
            <a:r>
              <a:rPr lang="en-US" sz="1400" dirty="0"/>
              <a:t>• Easy integration using REST APIs</a:t>
            </a:r>
            <a:br>
              <a:rPr lang="en-US" sz="1400" dirty="0"/>
            </a:br>
            <a:r>
              <a:rPr lang="en-US" sz="1400" dirty="0"/>
              <a:t>• Runs on standard systems (no special hardware required)</a:t>
            </a:r>
            <a:br>
              <a:rPr lang="en-US" sz="1400" dirty="0"/>
            </a:br>
            <a:r>
              <a:rPr lang="en-US" sz="1400" dirty="0"/>
              <a:t>• Open-source tools and libraries used</a:t>
            </a:r>
            <a:br>
              <a:rPr lang="en-US" sz="1400" dirty="0"/>
            </a:br>
            <a:r>
              <a:rPr lang="en-US" sz="1400" dirty="0"/>
              <a:t>• Scalable architecture for future upgrades</a:t>
            </a:r>
          </a:p>
          <a:p>
            <a:endParaRPr lang="en-US" dirty="0"/>
          </a:p>
          <a:p>
            <a:r>
              <a:rPr lang="en-US" sz="1600" b="1" dirty="0"/>
              <a:t>🔹 2. Economic Feasibility</a:t>
            </a:r>
          </a:p>
          <a:p>
            <a:r>
              <a:rPr lang="en-US" sz="1400" dirty="0"/>
              <a:t>• Low development cost (uses free and open-source technologies)</a:t>
            </a:r>
            <a:br>
              <a:rPr lang="en-US" sz="1400" dirty="0"/>
            </a:br>
            <a:r>
              <a:rPr lang="en-US" sz="1400" dirty="0"/>
              <a:t>• No expensive licenses required</a:t>
            </a:r>
            <a:br>
              <a:rPr lang="en-US" sz="1400" dirty="0"/>
            </a:br>
            <a:r>
              <a:rPr lang="en-US" sz="1400" dirty="0"/>
              <a:t>• Can be deployed on free hosting platforms</a:t>
            </a:r>
            <a:br>
              <a:rPr lang="en-US" sz="1400" dirty="0"/>
            </a:br>
            <a:r>
              <a:rPr lang="en-US" sz="1400" dirty="0"/>
              <a:t>• Minimal maintenance cost</a:t>
            </a:r>
          </a:p>
          <a:p>
            <a:endParaRPr lang="en-US" dirty="0"/>
          </a:p>
          <a:p>
            <a:r>
              <a:rPr lang="en-US" sz="1600" b="1" dirty="0"/>
              <a:t>🔹 3. Operational Feasibility</a:t>
            </a:r>
          </a:p>
          <a:p>
            <a:r>
              <a:rPr lang="en-US" sz="1400" dirty="0"/>
              <a:t>• Simple and user-friendly interface</a:t>
            </a:r>
            <a:br>
              <a:rPr lang="en-US" sz="1400" dirty="0"/>
            </a:br>
            <a:r>
              <a:rPr lang="en-US" sz="1400" dirty="0"/>
              <a:t>• Easy to learn and use</a:t>
            </a:r>
            <a:br>
              <a:rPr lang="en-US" sz="1400" dirty="0"/>
            </a:br>
            <a:r>
              <a:rPr lang="en-US" sz="1400" dirty="0"/>
              <a:t>• Requires minimal technical knowledge for users</a:t>
            </a:r>
            <a:br>
              <a:rPr lang="en-US" sz="1400" dirty="0"/>
            </a:br>
            <a:r>
              <a:rPr lang="en-US" sz="1400" dirty="0"/>
              <a:t>• Supports smooth daily workout management</a:t>
            </a:r>
          </a:p>
          <a:p>
            <a:endParaRPr lang="en-US" dirty="0"/>
          </a:p>
          <a:p>
            <a:r>
              <a:rPr lang="en-US" sz="1600" b="1" dirty="0"/>
              <a:t>🔹 4. Schedule Feasibility</a:t>
            </a:r>
          </a:p>
          <a:p>
            <a:r>
              <a:rPr lang="en-US" sz="1400" dirty="0"/>
              <a:t>• Can be developed within a short academic project timeline</a:t>
            </a:r>
            <a:br>
              <a:rPr lang="en-US" sz="1400" dirty="0"/>
            </a:br>
            <a:r>
              <a:rPr lang="en-US" sz="1400" dirty="0"/>
              <a:t>• Modular structure allows parallel frontend and backend development</a:t>
            </a:r>
            <a:br>
              <a:rPr lang="en-US" sz="1400" dirty="0"/>
            </a:br>
            <a:r>
              <a:rPr lang="en-US" sz="1400" dirty="0"/>
              <a:t>• Easy testing and debugging process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5CB863-F7CE-371B-DB44-F68F84AFEABA}"/>
              </a:ext>
            </a:extLst>
          </p:cNvPr>
          <p:cNvSpPr txBox="1"/>
          <p:nvPr/>
        </p:nvSpPr>
        <p:spPr>
          <a:xfrm>
            <a:off x="6095999" y="772150"/>
            <a:ext cx="6612148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✅ Viability Analysis – Smart Workout Planner</a:t>
            </a:r>
          </a:p>
          <a:p>
            <a:r>
              <a:rPr lang="en-US" sz="1600" b="1" dirty="0"/>
              <a:t>🔹 1. Market Viability</a:t>
            </a:r>
          </a:p>
          <a:p>
            <a:r>
              <a:rPr lang="en-US" sz="1400" dirty="0"/>
              <a:t>• Increasing awareness about fitness and healthy lifestyle</a:t>
            </a:r>
            <a:br>
              <a:rPr lang="en-US" sz="1400" dirty="0"/>
            </a:br>
            <a:r>
              <a:rPr lang="en-US" sz="1400" dirty="0"/>
              <a:t>• Growing demand for personalized workout planning</a:t>
            </a:r>
            <a:br>
              <a:rPr lang="en-US" sz="1400" dirty="0"/>
            </a:br>
            <a:r>
              <a:rPr lang="en-US" sz="1400" dirty="0"/>
              <a:t>• Suitable for students, working professionals, and gym users</a:t>
            </a:r>
            <a:br>
              <a:rPr lang="en-US" sz="1400" dirty="0"/>
            </a:br>
            <a:r>
              <a:rPr lang="en-US" sz="1400" dirty="0"/>
              <a:t>• Can target local gyms and fitness trainers</a:t>
            </a:r>
            <a:endParaRPr lang="en-US" sz="1600" dirty="0"/>
          </a:p>
          <a:p>
            <a:r>
              <a:rPr lang="en-US" sz="1600" b="1" dirty="0"/>
              <a:t>🔹 2. User Viability</a:t>
            </a:r>
          </a:p>
          <a:p>
            <a:r>
              <a:rPr lang="en-US" sz="1400" dirty="0"/>
              <a:t>• Solves real problems like inconsistent workout tracking</a:t>
            </a:r>
            <a:br>
              <a:rPr lang="en-US" sz="1400" dirty="0"/>
            </a:br>
            <a:r>
              <a:rPr lang="en-US" sz="1400" dirty="0"/>
              <a:t>• Personalized workout suggestions improve engagement</a:t>
            </a:r>
            <a:br>
              <a:rPr lang="en-US" sz="1400" dirty="0"/>
            </a:br>
            <a:r>
              <a:rPr lang="en-US" sz="1400" dirty="0"/>
              <a:t>• Easy-to-use interface increases adoption</a:t>
            </a:r>
            <a:br>
              <a:rPr lang="en-US" sz="1400" dirty="0"/>
            </a:br>
            <a:r>
              <a:rPr lang="en-US" sz="1400" dirty="0"/>
              <a:t>• Saves time compared to manual planning</a:t>
            </a:r>
            <a:endParaRPr lang="en-US" dirty="0"/>
          </a:p>
          <a:p>
            <a:r>
              <a:rPr lang="en-US" sz="1600" b="1" dirty="0"/>
              <a:t>🔹 3. Financial Viability</a:t>
            </a:r>
          </a:p>
          <a:p>
            <a:r>
              <a:rPr lang="en-US" sz="1400" dirty="0"/>
              <a:t>• Can generate revenue through:</a:t>
            </a:r>
          </a:p>
          <a:p>
            <a:r>
              <a:rPr lang="en-US" sz="1400" dirty="0"/>
              <a:t>Premium subscription model</a:t>
            </a:r>
          </a:p>
          <a:p>
            <a:r>
              <a:rPr lang="en-US" sz="1400" dirty="0"/>
              <a:t>Advertisements</a:t>
            </a:r>
          </a:p>
          <a:p>
            <a:r>
              <a:rPr lang="en-US" sz="1400" dirty="0"/>
              <a:t>Trainer partnerships</a:t>
            </a:r>
            <a:br>
              <a:rPr lang="en-US" sz="1400" dirty="0"/>
            </a:br>
            <a:r>
              <a:rPr lang="en-US" sz="1400" dirty="0"/>
              <a:t>• Low operational cost ensures long-term sustainability</a:t>
            </a:r>
            <a:endParaRPr lang="en-US" dirty="0"/>
          </a:p>
          <a:p>
            <a:r>
              <a:rPr lang="en-US" sz="1600" b="1" dirty="0"/>
              <a:t>🔹 4. Scalability &amp; Growth Viability</a:t>
            </a:r>
          </a:p>
          <a:p>
            <a:r>
              <a:rPr lang="en-US" sz="1400" dirty="0"/>
              <a:t>• Can expand to include:</a:t>
            </a:r>
          </a:p>
          <a:p>
            <a:r>
              <a:rPr lang="en-US" sz="1400" dirty="0"/>
              <a:t>Diet planning</a:t>
            </a:r>
          </a:p>
          <a:p>
            <a:r>
              <a:rPr lang="en-US" sz="1400" dirty="0"/>
              <a:t>AI-based recommendations</a:t>
            </a:r>
          </a:p>
          <a:p>
            <a:r>
              <a:rPr lang="en-US" sz="1400" dirty="0"/>
              <a:t>Wearable device integration</a:t>
            </a:r>
            <a:br>
              <a:rPr lang="en-US" sz="1400" dirty="0"/>
            </a:br>
            <a:r>
              <a:rPr lang="en-US" sz="1400" dirty="0"/>
              <a:t>• Cloud-based deployment supports growth</a:t>
            </a:r>
            <a:br>
              <a:rPr lang="en-US" sz="1400" dirty="0"/>
            </a:br>
            <a:r>
              <a:rPr lang="en-US" sz="1400" dirty="0"/>
              <a:t>• Can scale to multiple cities or globally</a:t>
            </a:r>
            <a:endParaRPr lang="en-US" sz="16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9150057-D9C7-6E8D-7B15-8D0EEE41CB1F}"/>
              </a:ext>
            </a:extLst>
          </p:cNvPr>
          <p:cNvCxnSpPr/>
          <p:nvPr/>
        </p:nvCxnSpPr>
        <p:spPr>
          <a:xfrm>
            <a:off x="5820697" y="772150"/>
            <a:ext cx="78658" cy="55826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u="sng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92875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@NavkalpanaHackathon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EA62EF-43FC-828F-B037-2148096C8834}"/>
              </a:ext>
            </a:extLst>
          </p:cNvPr>
          <p:cNvSpPr txBox="1"/>
          <p:nvPr/>
        </p:nvSpPr>
        <p:spPr>
          <a:xfrm>
            <a:off x="216310" y="768231"/>
            <a:ext cx="4942571" cy="584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🌍 Impact (Smart Workout Planner)</a:t>
            </a:r>
          </a:p>
          <a:p>
            <a:r>
              <a:rPr lang="en-US" sz="1200" b="1" dirty="0"/>
              <a:t>🔹 1. Health &amp; Lifestyle Impact</a:t>
            </a:r>
          </a:p>
          <a:p>
            <a:r>
              <a:rPr lang="en-US" sz="1200" dirty="0"/>
              <a:t>• Encourages a healthy and active lifestyle</a:t>
            </a:r>
            <a:br>
              <a:rPr lang="en-US" sz="1200" dirty="0"/>
            </a:br>
            <a:r>
              <a:rPr lang="en-US" sz="1200" dirty="0"/>
              <a:t>• Helps users maintain regular workout routines</a:t>
            </a:r>
            <a:br>
              <a:rPr lang="en-US" sz="1200" dirty="0"/>
            </a:br>
            <a:r>
              <a:rPr lang="en-US" sz="1200" dirty="0"/>
              <a:t>• Reduces sedentary habits among students and professionals</a:t>
            </a:r>
          </a:p>
          <a:p>
            <a:r>
              <a:rPr lang="en-US" sz="1200" b="1" dirty="0"/>
              <a:t>🔹 2. User Productivity Impact</a:t>
            </a:r>
          </a:p>
          <a:p>
            <a:r>
              <a:rPr lang="en-US" sz="1200" dirty="0"/>
              <a:t>• Saves time by providing automated workout plans</a:t>
            </a:r>
            <a:br>
              <a:rPr lang="en-US" sz="1200" dirty="0"/>
            </a:br>
            <a:r>
              <a:rPr lang="en-US" sz="1200" dirty="0"/>
              <a:t>• Removes confusion in planning daily exercises</a:t>
            </a:r>
            <a:br>
              <a:rPr lang="en-US" sz="1200" dirty="0"/>
            </a:br>
            <a:r>
              <a:rPr lang="en-US" sz="1200" dirty="0"/>
              <a:t>• Improves consistency and discipline in fitness goals</a:t>
            </a:r>
          </a:p>
          <a:p>
            <a:r>
              <a:rPr lang="en-US" sz="1200" b="1" dirty="0"/>
              <a:t>🔹 3. Social Impact</a:t>
            </a:r>
          </a:p>
          <a:p>
            <a:r>
              <a:rPr lang="en-US" sz="1200" dirty="0"/>
              <a:t>• Promotes awareness about fitness and well-being</a:t>
            </a:r>
            <a:br>
              <a:rPr lang="en-US" sz="1200" dirty="0"/>
            </a:br>
            <a:r>
              <a:rPr lang="en-US" sz="1200" dirty="0"/>
              <a:t>• Can be used by beginners who lack proper guidance</a:t>
            </a:r>
            <a:br>
              <a:rPr lang="en-US" sz="1200" dirty="0"/>
            </a:br>
            <a:r>
              <a:rPr lang="en-US" sz="1200" dirty="0"/>
              <a:t>• Supports inclusive fitness for all age groups</a:t>
            </a:r>
          </a:p>
          <a:p>
            <a:r>
              <a:rPr lang="en-US" sz="1200" b="1" dirty="0"/>
              <a:t>🔹 4. Technological Impact</a:t>
            </a:r>
          </a:p>
          <a:p>
            <a:r>
              <a:rPr lang="en-US" sz="1200" dirty="0"/>
              <a:t>• Demonstrates use of AI/automation in fitness planning</a:t>
            </a:r>
            <a:br>
              <a:rPr lang="en-US" sz="1200" dirty="0"/>
            </a:br>
            <a:r>
              <a:rPr lang="en-US" sz="1200" dirty="0"/>
              <a:t>• Encourages adoption of smart health applications</a:t>
            </a:r>
            <a:br>
              <a:rPr lang="en-US" sz="1200" dirty="0"/>
            </a:br>
            <a:r>
              <a:rPr lang="en-US" sz="1200" dirty="0"/>
              <a:t>• Shows integration of modern technology in daily life</a:t>
            </a:r>
          </a:p>
          <a:p>
            <a:r>
              <a:rPr lang="en-US" sz="1200" b="1" dirty="0"/>
              <a:t>🔹 5. Economic Impact</a:t>
            </a:r>
          </a:p>
          <a:p>
            <a:r>
              <a:rPr lang="en-US" sz="1200" dirty="0"/>
              <a:t>• Reduces dependency on expensive personal trainers</a:t>
            </a:r>
            <a:br>
              <a:rPr lang="en-US" sz="1200" dirty="0"/>
            </a:br>
            <a:r>
              <a:rPr lang="en-US" sz="1200" dirty="0"/>
              <a:t>• Affordable fitness solution for students</a:t>
            </a:r>
            <a:br>
              <a:rPr lang="en-US" sz="1200" dirty="0"/>
            </a:br>
            <a:r>
              <a:rPr lang="en-US" sz="1200" dirty="0"/>
              <a:t>• Potential for startup and business opportunities</a:t>
            </a:r>
          </a:p>
          <a:p>
            <a:r>
              <a:rPr lang="en-US" sz="1200" b="1" dirty="0"/>
              <a:t>🔹 6. Educational Impact</a:t>
            </a:r>
          </a:p>
          <a:p>
            <a:r>
              <a:rPr lang="en-US" sz="1200" dirty="0"/>
              <a:t>• Useful for learning about health, fitness, and technology</a:t>
            </a:r>
            <a:br>
              <a:rPr lang="en-US" sz="1200" dirty="0"/>
            </a:br>
            <a:r>
              <a:rPr lang="en-US" sz="1200" dirty="0"/>
              <a:t>• Enhances awareness of personalized training systems</a:t>
            </a:r>
            <a:br>
              <a:rPr lang="en-US" sz="1200" dirty="0"/>
            </a:br>
            <a:r>
              <a:rPr lang="en-US" sz="1200" dirty="0"/>
              <a:t>• Demonstrates real-world application of software development concepts</a:t>
            </a:r>
          </a:p>
          <a:p>
            <a:r>
              <a:rPr lang="en-US" sz="1200" b="1" dirty="0"/>
              <a:t>🔹 7. Long-Term Impact</a:t>
            </a:r>
          </a:p>
          <a:p>
            <a:r>
              <a:rPr lang="en-US" sz="1200" dirty="0"/>
              <a:t>• Improves overall physical and mental well-being</a:t>
            </a:r>
            <a:br>
              <a:rPr lang="en-US" sz="1200" dirty="0"/>
            </a:br>
            <a:r>
              <a:rPr lang="en-US" sz="1200" dirty="0"/>
              <a:t>• Builds sustainable fitness habits</a:t>
            </a:r>
            <a:br>
              <a:rPr lang="en-US" sz="1200" dirty="0"/>
            </a:br>
            <a:r>
              <a:rPr lang="en-US" sz="1200" dirty="0"/>
              <a:t>• Scalable to include diet plans, wearable tracking, and advanced AI features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988681-9DE2-A70F-9B41-E83B83AE29C0}"/>
              </a:ext>
            </a:extLst>
          </p:cNvPr>
          <p:cNvSpPr txBox="1"/>
          <p:nvPr/>
        </p:nvSpPr>
        <p:spPr>
          <a:xfrm>
            <a:off x="6638945" y="768231"/>
            <a:ext cx="3905236" cy="5816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✅ Benefits of Smart Workout Planner</a:t>
            </a:r>
          </a:p>
          <a:p>
            <a:r>
              <a:rPr lang="en-US" sz="1200" b="1" dirty="0"/>
              <a:t>🔹 1. Personalized Workout Plans</a:t>
            </a:r>
          </a:p>
          <a:p>
            <a:r>
              <a:rPr lang="en-US" sz="1200" dirty="0"/>
              <a:t>• Generates workout routines based on user preferences</a:t>
            </a:r>
            <a:br>
              <a:rPr lang="en-US" sz="1200" dirty="0"/>
            </a:br>
            <a:r>
              <a:rPr lang="en-US" sz="1200" dirty="0"/>
              <a:t>• Suitable for beginners and intermediate users</a:t>
            </a:r>
            <a:br>
              <a:rPr lang="en-US" sz="1200" dirty="0"/>
            </a:br>
            <a:r>
              <a:rPr lang="en-US" sz="1200" dirty="0"/>
              <a:t>• Adapts according to fitness goals</a:t>
            </a:r>
          </a:p>
          <a:p>
            <a:r>
              <a:rPr lang="en-US" sz="1200" b="1" dirty="0"/>
              <a:t>🔹 2. Time Saving</a:t>
            </a:r>
          </a:p>
          <a:p>
            <a:r>
              <a:rPr lang="en-US" sz="1200" dirty="0"/>
              <a:t>• Eliminates manual workout planning</a:t>
            </a:r>
            <a:br>
              <a:rPr lang="en-US" sz="1200" dirty="0"/>
            </a:br>
            <a:r>
              <a:rPr lang="en-US" sz="1200" dirty="0"/>
              <a:t>• Quick access to structured routines</a:t>
            </a:r>
            <a:br>
              <a:rPr lang="en-US" sz="1200" dirty="0"/>
            </a:br>
            <a:r>
              <a:rPr lang="en-US" sz="1200" dirty="0"/>
              <a:t>• Reduces confusion about what to train daily</a:t>
            </a:r>
          </a:p>
          <a:p>
            <a:r>
              <a:rPr lang="en-US" sz="1200" b="1" dirty="0"/>
              <a:t>🔹 3. Cost Effective</a:t>
            </a:r>
          </a:p>
          <a:p>
            <a:r>
              <a:rPr lang="en-US" sz="1200" dirty="0"/>
              <a:t>• Free or low-cost alternative to personal trainers</a:t>
            </a:r>
            <a:br>
              <a:rPr lang="en-US" sz="1200" dirty="0"/>
            </a:br>
            <a:r>
              <a:rPr lang="en-US" sz="1200" dirty="0"/>
              <a:t>• No need for expensive fitness consultation</a:t>
            </a:r>
            <a:br>
              <a:rPr lang="en-US" sz="1200" dirty="0"/>
            </a:br>
            <a:r>
              <a:rPr lang="en-US" sz="1200" dirty="0"/>
              <a:t>• Affordable solution for students</a:t>
            </a:r>
          </a:p>
          <a:p>
            <a:r>
              <a:rPr lang="en-US" sz="1200" b="1" dirty="0"/>
              <a:t>🔹 4. Easy to Use</a:t>
            </a:r>
          </a:p>
          <a:p>
            <a:r>
              <a:rPr lang="en-US" sz="1200" dirty="0"/>
              <a:t>• Simple and user-friendly interface</a:t>
            </a:r>
            <a:br>
              <a:rPr lang="en-US" sz="1200" dirty="0"/>
            </a:br>
            <a:r>
              <a:rPr lang="en-US" sz="1200" dirty="0"/>
              <a:t>• Accessible anytime, anywhere</a:t>
            </a:r>
            <a:br>
              <a:rPr lang="en-US" sz="1200" dirty="0"/>
            </a:br>
            <a:r>
              <a:rPr lang="en-US" sz="1200" dirty="0"/>
              <a:t>• Requires minimal technical knowledge</a:t>
            </a:r>
          </a:p>
          <a:p>
            <a:r>
              <a:rPr lang="en-US" sz="1200" b="1" dirty="0"/>
              <a:t>🔹 5. Improved Consistency</a:t>
            </a:r>
          </a:p>
          <a:p>
            <a:r>
              <a:rPr lang="en-US" sz="1200" dirty="0"/>
              <a:t>• Encourages regular workout tracking</a:t>
            </a:r>
            <a:br>
              <a:rPr lang="en-US" sz="1200" dirty="0"/>
            </a:br>
            <a:r>
              <a:rPr lang="en-US" sz="1200" dirty="0"/>
              <a:t>• Helps build discipline</a:t>
            </a:r>
            <a:br>
              <a:rPr lang="en-US" sz="1200" dirty="0"/>
            </a:br>
            <a:r>
              <a:rPr lang="en-US" sz="1200" dirty="0"/>
              <a:t>• Increases motivation through structured plans</a:t>
            </a:r>
          </a:p>
          <a:p>
            <a:r>
              <a:rPr lang="en-US" sz="1200" b="1" dirty="0"/>
              <a:t>🔹 6. Progress Monitoring</a:t>
            </a:r>
          </a:p>
          <a:p>
            <a:r>
              <a:rPr lang="en-US" sz="1200" dirty="0"/>
              <a:t>• Tracks completed workouts</a:t>
            </a:r>
            <a:br>
              <a:rPr lang="en-US" sz="1200" dirty="0"/>
            </a:br>
            <a:r>
              <a:rPr lang="en-US" sz="1200" dirty="0"/>
              <a:t>• Helps users analyze improvement</a:t>
            </a:r>
            <a:br>
              <a:rPr lang="en-US" sz="1200" dirty="0"/>
            </a:br>
            <a:r>
              <a:rPr lang="en-US" sz="1200" dirty="0"/>
              <a:t>• Keeps users accountable</a:t>
            </a:r>
          </a:p>
          <a:p>
            <a:r>
              <a:rPr lang="en-US" sz="1200" b="1" dirty="0"/>
              <a:t>🔹 7. Scalable &amp; Future Ready</a:t>
            </a:r>
          </a:p>
          <a:p>
            <a:r>
              <a:rPr lang="en-US" sz="1200" dirty="0"/>
              <a:t>• Can integrate diet planning</a:t>
            </a:r>
            <a:br>
              <a:rPr lang="en-US" sz="1200" dirty="0"/>
            </a:br>
            <a:r>
              <a:rPr lang="en-US" sz="1200" dirty="0"/>
              <a:t>• Can connect with wearable devices</a:t>
            </a:r>
            <a:br>
              <a:rPr lang="en-US" sz="1200" dirty="0"/>
            </a:br>
            <a:r>
              <a:rPr lang="en-US" sz="1200" dirty="0"/>
              <a:t>• Supports AI-based enhancements</a:t>
            </a:r>
          </a:p>
          <a:p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77698E-46E5-7FD6-B05C-EFA851F863A7}"/>
              </a:ext>
            </a:extLst>
          </p:cNvPr>
          <p:cNvCxnSpPr/>
          <p:nvPr/>
        </p:nvCxnSpPr>
        <p:spPr>
          <a:xfrm>
            <a:off x="5801032" y="768231"/>
            <a:ext cx="0" cy="54260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u="sng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92875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@NavkalpanaHackathon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0D9866-6778-1B8B-0E18-92A067186003}"/>
              </a:ext>
            </a:extLst>
          </p:cNvPr>
          <p:cNvSpPr txBox="1"/>
          <p:nvPr/>
        </p:nvSpPr>
        <p:spPr>
          <a:xfrm>
            <a:off x="186815" y="949286"/>
            <a:ext cx="582069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🔹 1. Importance of Regular Physical Activity</a:t>
            </a:r>
          </a:p>
          <a:p>
            <a:r>
              <a:rPr lang="en-US" sz="1600" dirty="0"/>
              <a:t>World Health Organization (WHO) highlights that regular physical activity reduces risk of chronic diseases and improves mental health.</a:t>
            </a:r>
            <a:br>
              <a:rPr lang="en-US" sz="1600" dirty="0"/>
            </a:br>
            <a:r>
              <a:rPr lang="en-US" sz="1600" dirty="0"/>
              <a:t>🔗 </a:t>
            </a:r>
            <a:r>
              <a:rPr lang="en-US" sz="1600" dirty="0">
                <a:hlinkClick r:id="rId3"/>
              </a:rPr>
              <a:t>https://www.who.int/news-room/fact-sheets/detail/physical-activity</a:t>
            </a:r>
            <a:endParaRPr lang="en-US" sz="1600" dirty="0"/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🔹 2. Benefits of Personalized Workout Programs</a:t>
            </a:r>
          </a:p>
          <a:p>
            <a:r>
              <a:rPr lang="en-US" sz="1600" dirty="0"/>
              <a:t>Research shows personalized training programs improve adherence and performance outcomes.</a:t>
            </a:r>
            <a:br>
              <a:rPr lang="en-US" sz="1600" dirty="0"/>
            </a:br>
            <a:r>
              <a:rPr lang="en-US" sz="1600" dirty="0"/>
              <a:t>🔗 American College of Sports Medicine (ACSM)</a:t>
            </a:r>
            <a:br>
              <a:rPr lang="en-US" sz="1600" dirty="0"/>
            </a:br>
            <a:r>
              <a:rPr lang="en-US" sz="1600" dirty="0">
                <a:hlinkClick r:id="rId4"/>
              </a:rPr>
              <a:t>https://www.acsm.org</a:t>
            </a:r>
            <a:endParaRPr lang="en-US" sz="1600" dirty="0"/>
          </a:p>
          <a:p>
            <a:r>
              <a:rPr lang="en-US" sz="1600" dirty="0"/>
              <a:t>Research Article (NIH):</a:t>
            </a:r>
            <a:br>
              <a:rPr lang="en-US" sz="1600" dirty="0"/>
            </a:br>
            <a:r>
              <a:rPr lang="en-US" sz="1600" dirty="0"/>
              <a:t>🔗 https://www.ncbi.nlm.nih.gov/pmc/articles/PMC6019055/</a:t>
            </a:r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🔹 3. Digital Health &amp; Fitness Applications Growth</a:t>
            </a:r>
          </a:p>
          <a:p>
            <a:r>
              <a:rPr lang="en-US" sz="1600" dirty="0"/>
              <a:t>Global fitness app market is growing due to rising health awareness and smartphone penetration.</a:t>
            </a:r>
            <a:br>
              <a:rPr lang="en-US" sz="1600" dirty="0"/>
            </a:br>
            <a:r>
              <a:rPr lang="en-US" sz="1600" dirty="0"/>
              <a:t>🔗 https://www.statista.com/topics/2924/fitness-apps/</a:t>
            </a:r>
          </a:p>
          <a:p>
            <a:br>
              <a:rPr lang="en-US" sz="1200" dirty="0"/>
            </a:br>
            <a:endParaRPr lang="en-US" sz="1200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677536-CEF8-5863-B12E-2D8EC17542F6}"/>
              </a:ext>
            </a:extLst>
          </p:cNvPr>
          <p:cNvSpPr txBox="1"/>
          <p:nvPr/>
        </p:nvSpPr>
        <p:spPr>
          <a:xfrm>
            <a:off x="6250200" y="889238"/>
            <a:ext cx="5869857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🔹 4. Impact of Fitness Tracking Applications</a:t>
            </a:r>
          </a:p>
          <a:p>
            <a:r>
              <a:rPr lang="en-US" sz="1600" dirty="0"/>
              <a:t>Study shows fitness apps increase motivation and consistency in users.</a:t>
            </a:r>
            <a:br>
              <a:rPr lang="en-US" sz="1600" dirty="0"/>
            </a:br>
            <a:r>
              <a:rPr lang="en-US" sz="1600" dirty="0"/>
              <a:t>NIH Research Paper:</a:t>
            </a:r>
            <a:br>
              <a:rPr lang="en-US" sz="1600" dirty="0"/>
            </a:br>
            <a:r>
              <a:rPr lang="en-US" sz="1600" dirty="0"/>
              <a:t>🔗 https://www.ncbi.nlm.nih.gov/pmc/articles/PMC4309173/</a:t>
            </a:r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🔹 5. Use of AI in Health &amp; Fitness</a:t>
            </a:r>
          </a:p>
          <a:p>
            <a:r>
              <a:rPr lang="en-US" sz="1600" dirty="0"/>
              <a:t>AI-based recommendations improve personalization and engagement in digital health systems.</a:t>
            </a:r>
            <a:br>
              <a:rPr lang="en-US" sz="1600" dirty="0"/>
            </a:br>
            <a:r>
              <a:rPr lang="en-US" sz="1600" dirty="0"/>
              <a:t>🔗 https://www.sciencedirect.com/science/article/pii/S1532046419301268</a:t>
            </a:r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🔹 6. Technical References (Development Technologies)</a:t>
            </a:r>
          </a:p>
          <a:p>
            <a:r>
              <a:rPr lang="en-US" sz="1600" dirty="0"/>
              <a:t>• React Documentation</a:t>
            </a:r>
            <a:br>
              <a:rPr lang="en-US" sz="1600" dirty="0"/>
            </a:br>
            <a:r>
              <a:rPr lang="en-US" sz="1600" dirty="0"/>
              <a:t>🔗 </a:t>
            </a:r>
            <a:r>
              <a:rPr lang="en-US" sz="1600" dirty="0">
                <a:hlinkClick r:id="rId5"/>
              </a:rPr>
              <a:t>https://react.dev</a:t>
            </a:r>
            <a:endParaRPr lang="en-US" sz="1600" dirty="0"/>
          </a:p>
          <a:p>
            <a:r>
              <a:rPr lang="en-US" sz="1600" dirty="0"/>
              <a:t>• Node.js Documentation</a:t>
            </a:r>
            <a:br>
              <a:rPr lang="en-US" sz="1600" dirty="0"/>
            </a:br>
            <a:r>
              <a:rPr lang="en-US" sz="1600" dirty="0"/>
              <a:t>🔗 </a:t>
            </a:r>
            <a:r>
              <a:rPr lang="en-US" sz="1600" dirty="0">
                <a:hlinkClick r:id="rId6"/>
              </a:rPr>
              <a:t>https://nodejs.org</a:t>
            </a:r>
            <a:endParaRPr lang="en-US" sz="1600" dirty="0"/>
          </a:p>
          <a:p>
            <a:r>
              <a:rPr lang="en-US" sz="1600" dirty="0"/>
              <a:t>• MongoDB Documentation</a:t>
            </a:r>
            <a:br>
              <a:rPr lang="en-US" sz="1600" dirty="0"/>
            </a:br>
            <a:r>
              <a:rPr lang="en-US" sz="1600" dirty="0"/>
              <a:t>🔗 </a:t>
            </a:r>
            <a:r>
              <a:rPr lang="en-US" sz="1600" dirty="0">
                <a:hlinkClick r:id="rId7"/>
              </a:rPr>
              <a:t>https://www.mongodb.com/docs/</a:t>
            </a:r>
            <a:endParaRPr lang="en-US" sz="1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7566</TotalTime>
  <Words>1630</Words>
  <Application>Microsoft Office PowerPoint</Application>
  <PresentationFormat>Widescreen</PresentationFormat>
  <Paragraphs>140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NAVKALPANA HACKATHON 2026</vt:lpstr>
      <vt:lpstr> WORKOUT MANAGEMENT SYSTEM USING MERN STACK</vt:lpstr>
      <vt:lpstr>TECHNICAL APPROACH</vt:lpstr>
      <vt:lpstr>PROTOTYPE INTERNAL PIC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MUSHARAF ALI</cp:lastModifiedBy>
  <cp:revision>151</cp:revision>
  <dcterms:created xsi:type="dcterms:W3CDTF">2013-12-12T18:46:50Z</dcterms:created>
  <dcterms:modified xsi:type="dcterms:W3CDTF">2026-02-25T07:14:22Z</dcterms:modified>
  <cp:category/>
</cp:coreProperties>
</file>